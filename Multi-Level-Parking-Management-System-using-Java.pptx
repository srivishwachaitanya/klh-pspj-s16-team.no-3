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67" r:id="rId16"/>
  </p:sldIdLst>
  <p:sldSz cx="12192000" cy="6858000"/>
  <p:notesSz cx="6858000" cy="12192000"/>
  <p:embeddedFontLst>
    <p:embeddedFont>
      <p:font typeface="Consolas" panose="020B0609020204030204" pitchFamily="49" charset="0"/>
      <p:regular r:id="rId18"/>
      <p:bold r:id="rId19"/>
      <p:italic r:id="rId20"/>
      <p:boldItalic r:id="rId21"/>
    </p:embeddedFont>
    <p:embeddedFont>
      <p:font typeface="Crimson Pro SemiBold" panose="020B0604020202020204" charset="0"/>
      <p:regular r:id="rId22"/>
    </p:embeddedFont>
    <p:embeddedFont>
      <p:font typeface="Heebo" pitchFamily="2" charset="-79"/>
      <p:regular r:id="rId23"/>
      <p:bold r:id="rId24"/>
    </p:embeddedFont>
    <p:embeddedFont>
      <p:font typeface="Heebo Bold" charset="-79"/>
      <p:regular r:id="rId2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1508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rivishwachaitanya/KLH-PSPJ-S16-TEAM.NO-3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25" y="215678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Multi Level Parking Management System using Java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356682" y="3111202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Team No. 3</a:t>
            </a: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 |  KLH University  |  PSP (Java) Project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3626247"/>
            <a:ext cx="10868745" cy="1089124"/>
          </a:xfrm>
          <a:prstGeom prst="roundRect">
            <a:avLst>
              <a:gd name="adj" fmla="val 2603"/>
            </a:avLst>
          </a:prstGeom>
          <a:solidFill>
            <a:srgbClr val="F2EEEE"/>
          </a:solidFill>
          <a:ln/>
        </p:spPr>
      </p:sp>
      <p:sp>
        <p:nvSpPr>
          <p:cNvPr id="5" name="Shape 3"/>
          <p:cNvSpPr/>
          <p:nvPr/>
        </p:nvSpPr>
        <p:spPr>
          <a:xfrm>
            <a:off x="661475" y="3626247"/>
            <a:ext cx="3622882" cy="1089124"/>
          </a:xfrm>
          <a:custGeom>
            <a:avLst/>
            <a:gdLst/>
            <a:ahLst/>
            <a:cxnLst/>
            <a:rect l="l" t="t" r="r" b="b"/>
            <a:pathLst>
              <a:path w="3622882" h="1089124">
                <a:moveTo>
                  <a:pt x="23627" y="0"/>
                </a:moveTo>
                <a:lnTo>
                  <a:pt x="3622882" y="0"/>
                </a:lnTo>
                <a:lnTo>
                  <a:pt x="3622882" y="1089124"/>
                </a:lnTo>
                <a:lnTo>
                  <a:pt x="23627" y="1089124"/>
                </a:lnTo>
                <a:arcTo wR="23627" hR="23628" stAng="5400000" swAng="5400000"/>
                <a:lnTo>
                  <a:pt x="0" y="23628"/>
                </a:lnTo>
                <a:arcTo wR="23627" hR="23628" stAng="10800000" swAng="5400000"/>
                <a:close/>
              </a:path>
            </a:pathLst>
          </a:custGeom>
          <a:solidFill>
            <a:srgbClr val="F2EEEE"/>
          </a:solidFill>
          <a:ln/>
        </p:spPr>
      </p:sp>
      <p:sp>
        <p:nvSpPr>
          <p:cNvPr id="6" name="Text 4"/>
          <p:cNvSpPr/>
          <p:nvPr/>
        </p:nvSpPr>
        <p:spPr>
          <a:xfrm>
            <a:off x="850482" y="3815259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2620030159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50482" y="4223941"/>
            <a:ext cx="32448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Kaushal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284357" y="3626247"/>
            <a:ext cx="3622882" cy="1089124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9" name="Shape 7"/>
          <p:cNvSpPr/>
          <p:nvPr/>
        </p:nvSpPr>
        <p:spPr>
          <a:xfrm>
            <a:off x="4284357" y="3626247"/>
            <a:ext cx="25399" cy="1089124"/>
          </a:xfrm>
          <a:prstGeom prst="roundRect">
            <a:avLst>
              <a:gd name="adj" fmla="val 50001"/>
            </a:avLst>
          </a:prstGeom>
          <a:solidFill>
            <a:srgbClr val="D8D4D4"/>
          </a:solidFill>
          <a:ln/>
        </p:spPr>
      </p:sp>
      <p:sp>
        <p:nvSpPr>
          <p:cNvPr id="10" name="Text 8"/>
          <p:cNvSpPr/>
          <p:nvPr/>
        </p:nvSpPr>
        <p:spPr>
          <a:xfrm>
            <a:off x="4473364" y="3815259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2620030478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4473364" y="4223941"/>
            <a:ext cx="32448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Sreekar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907239" y="3626247"/>
            <a:ext cx="3622882" cy="1089124"/>
          </a:xfrm>
          <a:custGeom>
            <a:avLst/>
            <a:gdLst/>
            <a:ahLst/>
            <a:cxnLst/>
            <a:rect l="l" t="t" r="r" b="b"/>
            <a:pathLst>
              <a:path w="3622882" h="1089124">
                <a:moveTo>
                  <a:pt x="0" y="0"/>
                </a:moveTo>
                <a:lnTo>
                  <a:pt x="3599255" y="0"/>
                </a:lnTo>
                <a:arcTo wR="23627" hR="23628" stAng="16200000" swAng="5400000"/>
                <a:lnTo>
                  <a:pt x="3622882" y="1065496"/>
                </a:lnTo>
                <a:arcTo wR="23627" hR="23628" stAng="0" swAng="5400000"/>
                <a:lnTo>
                  <a:pt x="0" y="1089124"/>
                </a:lnTo>
                <a:lnTo>
                  <a:pt x="0" y="0"/>
                </a:lnTo>
                <a:close/>
              </a:path>
            </a:pathLst>
          </a:custGeom>
          <a:solidFill>
            <a:srgbClr val="F2EEEE"/>
          </a:solidFill>
          <a:ln/>
        </p:spPr>
      </p:sp>
      <p:sp>
        <p:nvSpPr>
          <p:cNvPr id="13" name="Shape 11"/>
          <p:cNvSpPr/>
          <p:nvPr/>
        </p:nvSpPr>
        <p:spPr>
          <a:xfrm>
            <a:off x="7907239" y="3626247"/>
            <a:ext cx="25399" cy="1089124"/>
          </a:xfrm>
          <a:prstGeom prst="roundRect">
            <a:avLst>
              <a:gd name="adj" fmla="val 50001"/>
            </a:avLst>
          </a:prstGeom>
          <a:solidFill>
            <a:srgbClr val="D8D4D4"/>
          </a:solidFill>
          <a:ln/>
        </p:spPr>
      </p:sp>
      <p:sp>
        <p:nvSpPr>
          <p:cNvPr id="14" name="Text 12"/>
          <p:cNvSpPr/>
          <p:nvPr/>
        </p:nvSpPr>
        <p:spPr>
          <a:xfrm>
            <a:off x="8096246" y="3815259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2620090036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8096246" y="4223941"/>
            <a:ext cx="32448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Chaitanya</a:t>
            </a:r>
            <a:endParaRPr lang="en-US" sz="14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EB6B51-4720-2811-AAEA-3CBA77C1F792}"/>
              </a:ext>
            </a:extLst>
          </p:cNvPr>
          <p:cNvSpPr/>
          <p:nvPr/>
        </p:nvSpPr>
        <p:spPr>
          <a:xfrm>
            <a:off x="11094098" y="6531429"/>
            <a:ext cx="1097902" cy="32657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7" name="Picture 16" descr="KLH Campus Locations - Vijayawada &amp; Hyderabad Campuses">
            <a:extLst>
              <a:ext uri="{FF2B5EF4-FFF2-40B4-BE49-F238E27FC236}">
                <a16:creationId xmlns:a16="http://schemas.microsoft.com/office/drawing/2014/main" id="{C794214F-ADAC-C7F8-8F9B-58BC8F05E9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635" y="-495958"/>
            <a:ext cx="1904365" cy="14154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03263"/>
            <a:ext cx="831234" cy="243979"/>
          </a:xfrm>
          <a:prstGeom prst="roundRect">
            <a:avLst>
              <a:gd name="adj" fmla="val 7902"/>
            </a:avLst>
          </a:prstGeom>
          <a:solidFill>
            <a:srgbClr val="CCD7FF"/>
          </a:solidFill>
          <a:ln/>
        </p:spPr>
      </p:sp>
      <p:sp>
        <p:nvSpPr>
          <p:cNvPr id="3" name="Text 1"/>
          <p:cNvSpPr/>
          <p:nvPr/>
        </p:nvSpPr>
        <p:spPr>
          <a:xfrm>
            <a:off x="757814" y="752530"/>
            <a:ext cx="1248141" cy="147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ABSTRACT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1012813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System Overview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661475" y="1831479"/>
            <a:ext cx="5801374" cy="1311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spcAft>
                <a:spcPts val="950"/>
              </a:spcAft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</a:t>
            </a:r>
            <a:r>
              <a:rPr lang="en-US" sz="12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Multi Level Parking Management System</a:t>
            </a: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is a console-based Java application that manages vehicle parking across four levels — </a:t>
            </a:r>
            <a:r>
              <a:rPr lang="en-US" sz="12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T1</a:t>
            </a: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and </a:t>
            </a:r>
            <a:r>
              <a:rPr lang="en-US" sz="12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T2</a:t>
            </a: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for two-wheelers, and </a:t>
            </a:r>
            <a:r>
              <a:rPr lang="en-US" sz="12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F1</a:t>
            </a: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and </a:t>
            </a:r>
            <a:r>
              <a:rPr lang="en-US" sz="12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F2</a:t>
            </a: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for four-wheelers — with five slots each, totalling </a:t>
            </a:r>
            <a:r>
              <a:rPr lang="en-US" sz="12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20 parking spaces</a:t>
            </a: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125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system handles the full lifecycle of a parking session: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61475" y="3265785"/>
            <a:ext cx="5801374" cy="195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Customer and vehicle registration with input validation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Prevention of duplicate active vehicle registrations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Slot allocation by vehicle type and expected duration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Unique token generation and token-based record retrieval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Exit billing: elapsed time rounded up to the next hour, minimum one hour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Rates: </a:t>
            </a:r>
            <a:r>
              <a:rPr lang="en-US" sz="12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₹20/hr</a:t>
            </a: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(two-wheeler) and </a:t>
            </a:r>
            <a:r>
              <a:rPr lang="en-US" sz="12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₹40/hr</a:t>
            </a: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(four-wheeler)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Text-file persistence — records restored on restart</a:t>
            </a:r>
            <a:endParaRPr lang="en-US" sz="12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1103" y="1862237"/>
            <a:ext cx="401627" cy="4016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61103" y="2434530"/>
            <a:ext cx="467536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20 Total Slots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6861103" y="2822079"/>
            <a:ext cx="4675368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4 levels × 5 spots each</a:t>
            </a:r>
            <a:endParaRPr lang="en-US" sz="12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61103" y="3332857"/>
            <a:ext cx="401627" cy="40163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861103" y="3905151"/>
            <a:ext cx="467536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Auto Billing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6861103" y="4292699"/>
            <a:ext cx="4675368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Time-based, rounded up per hour</a:t>
            </a:r>
            <a:endParaRPr lang="en-US" sz="12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61103" y="4803477"/>
            <a:ext cx="401627" cy="40163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861103" y="5375771"/>
            <a:ext cx="467536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File Persistence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6861103" y="5763320"/>
            <a:ext cx="4675368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Records survive program restarts</a:t>
            </a:r>
            <a:endParaRPr lang="en-US" sz="125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64D7F5D-FCF2-E124-2ACF-242C5707B85A}"/>
              </a:ext>
            </a:extLst>
          </p:cNvPr>
          <p:cNvSpPr/>
          <p:nvPr/>
        </p:nvSpPr>
        <p:spPr>
          <a:xfrm>
            <a:off x="11094098" y="6531429"/>
            <a:ext cx="1097902" cy="32657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8" name="Picture 17" descr="KLH Campus Locations - Vijayawada &amp; Hyderabad Campuses">
            <a:extLst>
              <a:ext uri="{FF2B5EF4-FFF2-40B4-BE49-F238E27FC236}">
                <a16:creationId xmlns:a16="http://schemas.microsoft.com/office/drawing/2014/main" id="{F793F75E-6984-1689-6731-D0F86D9110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39983" y="-402671"/>
            <a:ext cx="1904365" cy="14154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40668"/>
            <a:ext cx="1623079" cy="258465"/>
          </a:xfrm>
          <a:prstGeom prst="roundRect">
            <a:avLst>
              <a:gd name="adj" fmla="val 7898"/>
            </a:avLst>
          </a:prstGeom>
          <a:solidFill>
            <a:srgbClr val="CCD7FF"/>
          </a:solidFill>
          <a:ln/>
        </p:spPr>
      </p:sp>
      <p:sp>
        <p:nvSpPr>
          <p:cNvPr id="3" name="Text 1"/>
          <p:cNvSpPr/>
          <p:nvPr/>
        </p:nvSpPr>
        <p:spPr>
          <a:xfrm>
            <a:off x="763469" y="793814"/>
            <a:ext cx="2028675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PROBLEM STATEMENT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1073494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Understanding the Problem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61475" y="1981223"/>
            <a:ext cx="522691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A. The Problem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61475" y="2393454"/>
            <a:ext cx="5836496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Manual management of multi-level parking leads to: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61475" y="2789734"/>
            <a:ext cx="5226911" cy="1194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Difficulty identifying available slots across levels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Inability to quickly retrieve a vehicle's parking record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Risk of duplicate active registrations for the same vehicle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Inconsistent billing at exit time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1475" y="4144390"/>
            <a:ext cx="522691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B. Project Objectives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61475" y="4556621"/>
            <a:ext cx="5226911" cy="1507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Manage 20 slots across four levels with type-based allocation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Validate customer, phone, vehicle, and duration inputs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Prevent duplicate active registrations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Generate tokens and support token-based search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Calculate and display exit bills; save and restore records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09659" y="2666725"/>
            <a:ext cx="522691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C. Proposed Workflow</a:t>
            </a:r>
            <a:endParaRPr lang="en-US" sz="16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0994" y="3098105"/>
            <a:ext cx="4704141" cy="1765201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371852" y="4366447"/>
            <a:ext cx="709504" cy="27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Token Generation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9477683" y="4434787"/>
            <a:ext cx="709504" cy="13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Slot Allocation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8588373" y="4366447"/>
            <a:ext cx="709504" cy="27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Vehicle Selection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7699064" y="4366447"/>
            <a:ext cx="709504" cy="27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Input Validation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6790316" y="4366447"/>
            <a:ext cx="709504" cy="27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Customer Input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309659" y="5035550"/>
            <a:ext cx="5836496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i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Console-based Java application with local text-file storage.</a:t>
            </a:r>
            <a:endParaRPr lang="en-US" sz="13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3D161EA-A185-E361-65D1-337BBBD89713}"/>
              </a:ext>
            </a:extLst>
          </p:cNvPr>
          <p:cNvSpPr/>
          <p:nvPr/>
        </p:nvSpPr>
        <p:spPr>
          <a:xfrm>
            <a:off x="11094098" y="6531429"/>
            <a:ext cx="1097902" cy="32657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" name="Picture 19" descr="KLH Campus Locations - Vijayawada &amp; Hyderabad Campuses">
            <a:extLst>
              <a:ext uri="{FF2B5EF4-FFF2-40B4-BE49-F238E27FC236}">
                <a16:creationId xmlns:a16="http://schemas.microsoft.com/office/drawing/2014/main" id="{DB9A97DC-5D1E-7D3E-9010-AC06DE4557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7187" y="-435282"/>
            <a:ext cx="1904365" cy="14154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55625"/>
            <a:ext cx="555810" cy="215305"/>
          </a:xfrm>
          <a:prstGeom prst="roundRect">
            <a:avLst>
              <a:gd name="adj" fmla="val 7901"/>
            </a:avLst>
          </a:prstGeom>
          <a:noFill/>
          <a:ln w="6350">
            <a:solidFill>
              <a:srgbClr val="2150FE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503" y="606524"/>
            <a:ext cx="113404" cy="1134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6560" y="600409"/>
            <a:ext cx="825281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CO1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61475" y="823290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Java Foundations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661475" y="1527062"/>
            <a:ext cx="470066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Topics Applied</a:t>
            </a:r>
            <a:endParaRPr lang="en-US" sz="13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863130"/>
            <a:ext cx="2297154" cy="146833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98403" y="2023864"/>
            <a:ext cx="18994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Data Types &amp; Variables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898403" y="2351584"/>
            <a:ext cx="1899495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</a:t>
            </a:r>
            <a:r>
              <a:rPr lang="en-US" sz="11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long</a:t>
            </a: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</a:t>
            </a:r>
            <a:r>
              <a:rPr lang="en-US" sz="11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</a:t>
            </a:r>
            <a:r>
              <a:rPr lang="en-US" sz="11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boolean</a:t>
            </a: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</a:t>
            </a:r>
            <a:r>
              <a:rPr lang="en-US" sz="11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store customer names, vehicle numbers, levels, tokens, and statuses.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64890" y="1863130"/>
            <a:ext cx="2297253" cy="146833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301818" y="2023864"/>
            <a:ext cx="18995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Constants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3301818" y="2351584"/>
            <a:ext cx="1899595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static final int SLOTS_PER_LEVEL = 5;</a:t>
            </a: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defines parking capacity and hourly rates.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437731"/>
            <a:ext cx="2297154" cy="166677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98403" y="3598466"/>
            <a:ext cx="18994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Console I/O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898403" y="3926185"/>
            <a:ext cx="1899495" cy="831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Scanner</a:t>
            </a: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</a:t>
            </a:r>
            <a:r>
              <a:rPr lang="en-US" sz="11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System.out.println()</a:t>
            </a: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and </a:t>
            </a:r>
            <a:r>
              <a:rPr lang="en-US" sz="11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System.out.printf()</a:t>
            </a: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drive all user interaction.</a:t>
            </a:r>
            <a:endParaRPr lang="en-US" sz="11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64890" y="3437731"/>
            <a:ext cx="2297253" cy="166677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301818" y="3598466"/>
            <a:ext cx="18995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Operators &amp; Parsing</a:t>
            </a:r>
            <a:endParaRPr lang="en-US" sz="1350" dirty="0"/>
          </a:p>
        </p:txBody>
      </p:sp>
      <p:sp>
        <p:nvSpPr>
          <p:cNvPr id="18" name="Text 11"/>
          <p:cNvSpPr/>
          <p:nvPr/>
        </p:nvSpPr>
        <p:spPr>
          <a:xfrm>
            <a:off x="3301818" y="3926185"/>
            <a:ext cx="1899595" cy="1017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Arithmetic, relational, logical, and conditional operators; </a:t>
            </a:r>
            <a:r>
              <a:rPr lang="en-US" sz="11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Integer.parseInt()</a:t>
            </a: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; </a:t>
            </a:r>
            <a:r>
              <a:rPr lang="en-US" sz="11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tokenCounter++</a:t>
            </a: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for token generation.</a:t>
            </a:r>
            <a:endParaRPr lang="en-US" sz="1100" dirty="0"/>
          </a:p>
        </p:txBody>
      </p:sp>
      <p:sp>
        <p:nvSpPr>
          <p:cNvPr id="19" name="Shape 12"/>
          <p:cNvSpPr/>
          <p:nvPr/>
        </p:nvSpPr>
        <p:spPr>
          <a:xfrm>
            <a:off x="5612267" y="1415852"/>
            <a:ext cx="6026297" cy="4886424"/>
          </a:xfrm>
          <a:prstGeom prst="roundRect">
            <a:avLst>
              <a:gd name="adj" fmla="val 435"/>
            </a:avLst>
          </a:prstGeom>
          <a:solidFill>
            <a:srgbClr val="2150FE"/>
          </a:solidFill>
          <a:ln/>
        </p:spPr>
      </p:sp>
      <p:sp>
        <p:nvSpPr>
          <p:cNvPr id="20" name="Text 13"/>
          <p:cNvSpPr/>
          <p:nvPr/>
        </p:nvSpPr>
        <p:spPr>
          <a:xfrm>
            <a:off x="5753948" y="1527062"/>
            <a:ext cx="574293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Code Examples</a:t>
            </a:r>
            <a:endParaRPr lang="en-US" sz="1350" dirty="0"/>
          </a:p>
        </p:txBody>
      </p:sp>
      <p:sp>
        <p:nvSpPr>
          <p:cNvPr id="21" name="Text 14"/>
          <p:cNvSpPr/>
          <p:nvPr/>
        </p:nvSpPr>
        <p:spPr>
          <a:xfrm>
            <a:off x="5753948" y="1849834"/>
            <a:ext cx="6352520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Constant Declaration: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5753948" y="2167830"/>
            <a:ext cx="5742935" cy="963811"/>
          </a:xfrm>
          <a:prstGeom prst="roundRect">
            <a:avLst>
              <a:gd name="adj" fmla="val 2206"/>
            </a:avLst>
          </a:prstGeom>
          <a:solidFill>
            <a:srgbClr val="2E5DFF"/>
          </a:solidFill>
          <a:ln/>
        </p:spPr>
      </p:sp>
      <p:sp>
        <p:nvSpPr>
          <p:cNvPr id="23" name="Text 16"/>
          <p:cNvSpPr/>
          <p:nvPr/>
        </p:nvSpPr>
        <p:spPr>
          <a:xfrm>
            <a:off x="5924005" y="2309515"/>
            <a:ext cx="540282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final int SLOTS_PER_LEVEL = 5;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final int TWO_WHEELER_RATE = 20;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final int FOUR_WHEELER_RATE = 40;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5753948" y="3251200"/>
            <a:ext cx="6352520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Input Parsing: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5753948" y="3569196"/>
            <a:ext cx="5742935" cy="963811"/>
          </a:xfrm>
          <a:prstGeom prst="roundRect">
            <a:avLst>
              <a:gd name="adj" fmla="val 2206"/>
            </a:avLst>
          </a:prstGeom>
          <a:solidFill>
            <a:srgbClr val="2E5DFF"/>
          </a:solidFill>
          <a:ln/>
        </p:spPr>
      </p:sp>
      <p:sp>
        <p:nvSpPr>
          <p:cNvPr id="26" name="Text 19"/>
          <p:cNvSpPr/>
          <p:nvPr/>
        </p:nvSpPr>
        <p:spPr>
          <a:xfrm>
            <a:off x="5924005" y="3710880"/>
            <a:ext cx="540282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choice = Integer.parseInt(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sc.nextLine().trim()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5753948" y="4652566"/>
            <a:ext cx="6352520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Token Increment: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5753948" y="4970562"/>
            <a:ext cx="5742935" cy="510183"/>
          </a:xfrm>
          <a:prstGeom prst="roundRect">
            <a:avLst>
              <a:gd name="adj" fmla="val 4168"/>
            </a:avLst>
          </a:prstGeom>
          <a:solidFill>
            <a:srgbClr val="2E5DFF"/>
          </a:solidFill>
          <a:ln/>
        </p:spPr>
      </p:sp>
      <p:sp>
        <p:nvSpPr>
          <p:cNvPr id="29" name="Text 22"/>
          <p:cNvSpPr/>
          <p:nvPr/>
        </p:nvSpPr>
        <p:spPr>
          <a:xfrm>
            <a:off x="5924005" y="5112246"/>
            <a:ext cx="60124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token = "PKT" + (++tokenCounter);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5753948" y="5635724"/>
            <a:ext cx="5742935" cy="19050"/>
          </a:xfrm>
          <a:prstGeom prst="roundRect">
            <a:avLst>
              <a:gd name="adj" fmla="val 49999"/>
            </a:avLst>
          </a:prstGeom>
          <a:solidFill>
            <a:srgbClr val="FFFFFF">
              <a:alpha val="50000"/>
            </a:srgbClr>
          </a:solidFill>
          <a:ln/>
        </p:spPr>
      </p:sp>
      <p:sp>
        <p:nvSpPr>
          <p:cNvPr id="31" name="Text 24"/>
          <p:cNvSpPr/>
          <p:nvPr/>
        </p:nvSpPr>
        <p:spPr>
          <a:xfrm>
            <a:off x="5753948" y="5809754"/>
            <a:ext cx="5742935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Variables, constants, and I/O form the </a:t>
            </a:r>
            <a:r>
              <a:rPr lang="en-US" sz="11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entry point</a:t>
            </a:r>
            <a:r>
              <a:rPr lang="en-US" sz="11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for every parking operation — from registration to billing.</a:t>
            </a:r>
            <a:endParaRPr lang="en-US" sz="11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A9BB66A-34DB-7CA8-C657-50DC6714D143}"/>
              </a:ext>
            </a:extLst>
          </p:cNvPr>
          <p:cNvSpPr/>
          <p:nvPr/>
        </p:nvSpPr>
        <p:spPr>
          <a:xfrm>
            <a:off x="11094098" y="6531429"/>
            <a:ext cx="1097902" cy="32657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4" name="Picture 33" descr="KLH Campus Locations - Vijayawada &amp; Hyderabad Campuses">
            <a:extLst>
              <a:ext uri="{FF2B5EF4-FFF2-40B4-BE49-F238E27FC236}">
                <a16:creationId xmlns:a16="http://schemas.microsoft.com/office/drawing/2014/main" id="{FBBDB71F-BA92-F66D-F962-E4931ACAA1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02103" y="-495958"/>
            <a:ext cx="1904365" cy="14154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916880"/>
            <a:ext cx="592718" cy="229691"/>
          </a:xfrm>
          <a:prstGeom prst="roundRect">
            <a:avLst>
              <a:gd name="adj" fmla="val 7900"/>
            </a:avLst>
          </a:prstGeom>
          <a:noFill/>
          <a:ln w="6350">
            <a:solidFill>
              <a:srgbClr val="2150FE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159" y="971252"/>
            <a:ext cx="120945" cy="1209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3526" y="965543"/>
            <a:ext cx="839568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CO2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61475" y="1203752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Control Flow</a:t>
            </a:r>
            <a:endParaRPr lang="en-US" sz="29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6428" y="2070795"/>
            <a:ext cx="4199924" cy="164653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86956" y="2151544"/>
            <a:ext cx="768840" cy="123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Display Menu</a:t>
            </a:r>
            <a:endParaRPr lang="en-US" sz="750" dirty="0"/>
          </a:p>
        </p:txBody>
      </p:sp>
      <p:sp>
        <p:nvSpPr>
          <p:cNvPr id="8" name="Text 4"/>
          <p:cNvSpPr/>
          <p:nvPr/>
        </p:nvSpPr>
        <p:spPr>
          <a:xfrm>
            <a:off x="4516908" y="2151544"/>
            <a:ext cx="768840" cy="123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Read Choice</a:t>
            </a:r>
            <a:endParaRPr lang="en-US" sz="750" dirty="0"/>
          </a:p>
        </p:txBody>
      </p:sp>
      <p:sp>
        <p:nvSpPr>
          <p:cNvPr id="9" name="Text 5"/>
          <p:cNvSpPr/>
          <p:nvPr/>
        </p:nvSpPr>
        <p:spPr>
          <a:xfrm>
            <a:off x="4516908" y="3512974"/>
            <a:ext cx="768840" cy="123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Execute Operation</a:t>
            </a:r>
            <a:endParaRPr lang="en-US" sz="750" dirty="0"/>
          </a:p>
        </p:txBody>
      </p:sp>
      <p:sp>
        <p:nvSpPr>
          <p:cNvPr id="10" name="Text 6"/>
          <p:cNvSpPr/>
          <p:nvPr/>
        </p:nvSpPr>
        <p:spPr>
          <a:xfrm>
            <a:off x="1286956" y="3512974"/>
            <a:ext cx="768840" cy="123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Return to Menu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661475" y="3853359"/>
            <a:ext cx="5859514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Core loop: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61475" y="4207073"/>
            <a:ext cx="5249930" cy="1511895"/>
          </a:xfrm>
          <a:prstGeom prst="roundRect">
            <a:avLst>
              <a:gd name="adj" fmla="val 1500"/>
            </a:avLst>
          </a:prstGeom>
          <a:solidFill>
            <a:srgbClr val="F2F2F2"/>
          </a:solidFill>
          <a:ln/>
        </p:spPr>
      </p:sp>
      <p:sp>
        <p:nvSpPr>
          <p:cNvPr id="13" name="Text 9"/>
          <p:cNvSpPr/>
          <p:nvPr/>
        </p:nvSpPr>
        <p:spPr>
          <a:xfrm>
            <a:off x="842842" y="4358283"/>
            <a:ext cx="4887195" cy="12094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 {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showDashboard();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choice = readInt("Enter choice: ");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switch (choice) { ... }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while (choice != 7);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6286640" y="1977296"/>
            <a:ext cx="524993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Control Flow Constructs Used</a:t>
            </a:r>
            <a:endParaRPr lang="en-US" sz="1450" dirty="0"/>
          </a:p>
        </p:txBody>
      </p:sp>
      <p:sp>
        <p:nvSpPr>
          <p:cNvPr id="15" name="Shape 11"/>
          <p:cNvSpPr/>
          <p:nvPr/>
        </p:nvSpPr>
        <p:spPr>
          <a:xfrm>
            <a:off x="6286640" y="2341959"/>
            <a:ext cx="340213" cy="340221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6" name="Text 12"/>
          <p:cNvSpPr/>
          <p:nvPr/>
        </p:nvSpPr>
        <p:spPr>
          <a:xfrm>
            <a:off x="6343293" y="2370286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</a:t>
            </a:r>
            <a:endParaRPr lang="en-US" sz="1750" dirty="0"/>
          </a:p>
        </p:txBody>
      </p:sp>
      <p:sp>
        <p:nvSpPr>
          <p:cNvPr id="17" name="Text 13"/>
          <p:cNvSpPr/>
          <p:nvPr/>
        </p:nvSpPr>
        <p:spPr>
          <a:xfrm>
            <a:off x="6747798" y="2393851"/>
            <a:ext cx="4788772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switch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6747798" y="2751038"/>
            <a:ext cx="4788772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Selects the dashboard operation; </a:t>
            </a:r>
            <a:r>
              <a:rPr lang="en-US" sz="11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isolates each case.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6286640" y="3223320"/>
            <a:ext cx="340213" cy="340221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20" name="Text 16"/>
          <p:cNvSpPr/>
          <p:nvPr/>
        </p:nvSpPr>
        <p:spPr>
          <a:xfrm>
            <a:off x="6343293" y="3251646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</a:t>
            </a:r>
            <a:endParaRPr lang="en-US" sz="1750" dirty="0"/>
          </a:p>
        </p:txBody>
      </p:sp>
      <p:sp>
        <p:nvSpPr>
          <p:cNvPr id="21" name="Text 17"/>
          <p:cNvSpPr/>
          <p:nvPr/>
        </p:nvSpPr>
        <p:spPr>
          <a:xfrm>
            <a:off x="6747798" y="3275211"/>
            <a:ext cx="4788772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if / if-else</a:t>
            </a:r>
            <a:endParaRPr lang="en-US" sz="1450" dirty="0"/>
          </a:p>
        </p:txBody>
      </p:sp>
      <p:sp>
        <p:nvSpPr>
          <p:cNvPr id="22" name="Text 18"/>
          <p:cNvSpPr/>
          <p:nvPr/>
        </p:nvSpPr>
        <p:spPr>
          <a:xfrm>
            <a:off x="6747798" y="3632398"/>
            <a:ext cx="4788772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Validates customer details, phone, vehicle type, duration, and existing registrations.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6286640" y="4309666"/>
            <a:ext cx="340213" cy="340221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24" name="Text 20"/>
          <p:cNvSpPr/>
          <p:nvPr/>
        </p:nvSpPr>
        <p:spPr>
          <a:xfrm>
            <a:off x="6343293" y="4337993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</a:t>
            </a:r>
            <a:endParaRPr lang="en-US" sz="1750" dirty="0"/>
          </a:p>
        </p:txBody>
      </p:sp>
      <p:sp>
        <p:nvSpPr>
          <p:cNvPr id="25" name="Text 21"/>
          <p:cNvSpPr/>
          <p:nvPr/>
        </p:nvSpPr>
        <p:spPr>
          <a:xfrm>
            <a:off x="6747798" y="4361557"/>
            <a:ext cx="4788772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do-while &amp; while</a:t>
            </a:r>
            <a:endParaRPr lang="en-US" sz="1450" dirty="0"/>
          </a:p>
        </p:txBody>
      </p:sp>
      <p:sp>
        <p:nvSpPr>
          <p:cNvPr id="26" name="Text 22"/>
          <p:cNvSpPr/>
          <p:nvPr/>
        </p:nvSpPr>
        <p:spPr>
          <a:xfrm>
            <a:off x="6747798" y="4718745"/>
            <a:ext cx="4788772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Keeps the menu active until option 7; retries on invalid integer input.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6286640" y="5178326"/>
            <a:ext cx="340213" cy="340221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28" name="Text 24"/>
          <p:cNvSpPr/>
          <p:nvPr/>
        </p:nvSpPr>
        <p:spPr>
          <a:xfrm>
            <a:off x="6343293" y="5206653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4</a:t>
            </a:r>
            <a:endParaRPr lang="en-US" sz="1750" dirty="0"/>
          </a:p>
        </p:txBody>
      </p:sp>
      <p:sp>
        <p:nvSpPr>
          <p:cNvPr id="29" name="Text 25"/>
          <p:cNvSpPr/>
          <p:nvPr/>
        </p:nvSpPr>
        <p:spPr>
          <a:xfrm>
            <a:off x="6747798" y="5230217"/>
            <a:ext cx="4788772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for &amp; nested for</a:t>
            </a:r>
            <a:endParaRPr lang="en-US" sz="1450" dirty="0"/>
          </a:p>
        </p:txBody>
      </p:sp>
      <p:sp>
        <p:nvSpPr>
          <p:cNvPr id="30" name="Text 26"/>
          <p:cNvSpPr/>
          <p:nvPr/>
        </p:nvSpPr>
        <p:spPr>
          <a:xfrm>
            <a:off x="6747798" y="5587405"/>
            <a:ext cx="4788772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Iterates across levels and slots to locate available parking spaces.</a:t>
            </a:r>
            <a:endParaRPr lang="en-US" sz="115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D7DE542-3578-483D-3783-12FA27ADCE65}"/>
              </a:ext>
            </a:extLst>
          </p:cNvPr>
          <p:cNvSpPr/>
          <p:nvPr/>
        </p:nvSpPr>
        <p:spPr>
          <a:xfrm>
            <a:off x="11094098" y="6531429"/>
            <a:ext cx="1097902" cy="32657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3" name="Picture 32" descr="KLH Campus Locations - Vijayawada &amp; Hyderabad Campuses">
            <a:extLst>
              <a:ext uri="{FF2B5EF4-FFF2-40B4-BE49-F238E27FC236}">
                <a16:creationId xmlns:a16="http://schemas.microsoft.com/office/drawing/2014/main" id="{9AA491AD-E817-15EF-9D93-00DB369B42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635" y="-449941"/>
            <a:ext cx="1904365" cy="14154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51160"/>
            <a:ext cx="555810" cy="215305"/>
          </a:xfrm>
          <a:prstGeom prst="roundRect">
            <a:avLst>
              <a:gd name="adj" fmla="val 7901"/>
            </a:avLst>
          </a:prstGeom>
          <a:noFill/>
          <a:ln w="6350">
            <a:solidFill>
              <a:srgbClr val="2150FE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503" y="602059"/>
            <a:ext cx="113404" cy="1134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6560" y="595944"/>
            <a:ext cx="825281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CO3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61475" y="818825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Methods &amp; Arrays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661475" y="1522597"/>
            <a:ext cx="52614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Modular Method Design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61475" y="1845370"/>
            <a:ext cx="5261439" cy="422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Additional helpers: </a:t>
            </a:r>
            <a:r>
              <a:rPr lang="en-US" sz="11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showAvailableSlots()</a:t>
            </a: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</a:t>
            </a:r>
            <a:r>
              <a:rPr lang="en-US" sz="11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searchToken()</a:t>
            </a: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</a:t>
            </a:r>
            <a:r>
              <a:rPr lang="en-US" sz="11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viewAllDetails()</a:t>
            </a: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</a:t>
            </a:r>
            <a:r>
              <a:rPr lang="en-US" sz="11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showDashboardSummary()</a:t>
            </a: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275131" y="1522597"/>
            <a:ext cx="52614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Array Structure — 20 Total Slots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75131" y="1858665"/>
          <a:ext cx="5261438" cy="1718030"/>
        </p:xfrm>
        <a:graphic>
          <a:graphicData uri="http://schemas.openxmlformats.org/drawingml/2006/table">
            <a:tbl>
              <a:tblPr/>
              <a:tblGrid>
                <a:gridCol w="1052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18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18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18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18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170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Level</a:t>
                      </a:r>
                      <a:endParaRPr lang="en-US" sz="11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S1</a:t>
                      </a:r>
                      <a:endParaRPr lang="en-US" sz="11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S2</a:t>
                      </a:r>
                      <a:endParaRPr lang="en-US" sz="11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S3</a:t>
                      </a:r>
                      <a:endParaRPr lang="en-US" sz="11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S4</a:t>
                      </a:r>
                      <a:endParaRPr lang="en-US" sz="11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S5</a:t>
                      </a:r>
                      <a:endParaRPr lang="en-US" sz="11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8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T1 (2W)</a:t>
                      </a:r>
                      <a:endParaRPr lang="en-US" sz="11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○</a:t>
                      </a:r>
                      <a:endParaRPr lang="en-US" sz="11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○</a:t>
                      </a:r>
                      <a:endParaRPr lang="en-US" sz="11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○</a:t>
                      </a:r>
                      <a:endParaRPr lang="en-US" sz="11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○</a:t>
                      </a:r>
                      <a:endParaRPr lang="en-US" sz="11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○</a:t>
                      </a:r>
                      <a:endParaRPr lang="en-US" sz="11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8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T2 (2W)</a:t>
                      </a:r>
                      <a:endParaRPr lang="en-US" sz="11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○</a:t>
                      </a:r>
                      <a:endParaRPr lang="en-US" sz="11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○</a:t>
                      </a:r>
                      <a:endParaRPr lang="en-US" sz="11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○</a:t>
                      </a:r>
                      <a:endParaRPr lang="en-US" sz="11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○</a:t>
                      </a:r>
                      <a:endParaRPr lang="en-US" sz="11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○</a:t>
                      </a:r>
                      <a:endParaRPr lang="en-US" sz="11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8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F1 (4W)</a:t>
                      </a:r>
                      <a:endParaRPr lang="en-US" sz="11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○</a:t>
                      </a:r>
                      <a:endParaRPr lang="en-US" sz="11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○</a:t>
                      </a:r>
                      <a:endParaRPr lang="en-US" sz="11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○</a:t>
                      </a:r>
                      <a:endParaRPr lang="en-US" sz="11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○</a:t>
                      </a:r>
                      <a:endParaRPr lang="en-US" sz="11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○</a:t>
                      </a:r>
                      <a:endParaRPr lang="en-US" sz="11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70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F2 (4W)</a:t>
                      </a:r>
                      <a:endParaRPr lang="en-US" sz="11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○</a:t>
                      </a:r>
                      <a:endParaRPr lang="en-US" sz="11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○</a:t>
                      </a:r>
                      <a:endParaRPr lang="en-US" sz="11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○</a:t>
                      </a:r>
                      <a:endParaRPr lang="en-US" sz="11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○</a:t>
                      </a:r>
                      <a:endParaRPr lang="en-US" sz="11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○</a:t>
                      </a:r>
                      <a:endParaRPr lang="en-US" sz="11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6275131" y="3708995"/>
            <a:ext cx="5261439" cy="422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2-D </a:t>
            </a:r>
            <a:r>
              <a:rPr lang="en-US" sz="11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boolean occupied[][]</a:t>
            </a: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array tracks slot occupancy. </a:t>
            </a:r>
            <a:r>
              <a:rPr lang="en-US" sz="11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findSpot()</a:t>
            </a: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returns the allocated position as </a:t>
            </a:r>
            <a:r>
              <a:rPr lang="en-US" sz="11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int[]</a:t>
            </a: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661475" y="4346476"/>
            <a:ext cx="28346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61475" y="4568329"/>
            <a:ext cx="5381193" cy="1905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3" name="Text 9"/>
          <p:cNvSpPr/>
          <p:nvPr/>
        </p:nvSpPr>
        <p:spPr>
          <a:xfrm>
            <a:off x="661475" y="4677271"/>
            <a:ext cx="538119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parkVehicle()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661475" y="4962426"/>
            <a:ext cx="5381193" cy="211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Registers a vehicle and invokes </a:t>
            </a:r>
            <a:r>
              <a:rPr lang="en-US" sz="11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findSpot()</a:t>
            </a: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148928" y="4346476"/>
            <a:ext cx="28346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148928" y="4568329"/>
            <a:ext cx="5381292" cy="1905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7" name="Text 13"/>
          <p:cNvSpPr/>
          <p:nvPr/>
        </p:nvSpPr>
        <p:spPr>
          <a:xfrm>
            <a:off x="6148928" y="4677271"/>
            <a:ext cx="538129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findSpot()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6148928" y="4962426"/>
            <a:ext cx="5381292" cy="211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Traverses the 2-D array; returns level &amp; slot as an </a:t>
            </a:r>
            <a:r>
              <a:rPr lang="en-US" sz="11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int[]</a:t>
            </a: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661475" y="5386090"/>
            <a:ext cx="28346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61475" y="5607943"/>
            <a:ext cx="5381193" cy="1905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21" name="Text 17"/>
          <p:cNvSpPr/>
          <p:nvPr/>
        </p:nvSpPr>
        <p:spPr>
          <a:xfrm>
            <a:off x="661475" y="5716885"/>
            <a:ext cx="538119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removeVehicle()</a:t>
            </a:r>
            <a:endParaRPr lang="en-US" sz="1350" dirty="0"/>
          </a:p>
        </p:txBody>
      </p:sp>
      <p:sp>
        <p:nvSpPr>
          <p:cNvPr id="22" name="Text 18"/>
          <p:cNvSpPr/>
          <p:nvPr/>
        </p:nvSpPr>
        <p:spPr>
          <a:xfrm>
            <a:off x="661475" y="6002040"/>
            <a:ext cx="5381193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Completes the session and generates the time-based bill.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6148928" y="5386090"/>
            <a:ext cx="28346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6148928" y="5607943"/>
            <a:ext cx="5381292" cy="1905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25" name="Text 21"/>
          <p:cNvSpPr/>
          <p:nvPr/>
        </p:nvSpPr>
        <p:spPr>
          <a:xfrm>
            <a:off x="6148928" y="5716885"/>
            <a:ext cx="538129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saveRecords() / loadRecords()</a:t>
            </a:r>
            <a:endParaRPr lang="en-US" sz="1350" dirty="0"/>
          </a:p>
        </p:txBody>
      </p:sp>
      <p:sp>
        <p:nvSpPr>
          <p:cNvPr id="26" name="Text 22"/>
          <p:cNvSpPr/>
          <p:nvPr/>
        </p:nvSpPr>
        <p:spPr>
          <a:xfrm>
            <a:off x="6148928" y="6002040"/>
            <a:ext cx="5381292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Serialize and restore all parking sessions via text file.</a:t>
            </a:r>
            <a:endParaRPr lang="en-US" sz="11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D19B494-AA6D-F577-6312-03DB8597F1A9}"/>
              </a:ext>
            </a:extLst>
          </p:cNvPr>
          <p:cNvSpPr/>
          <p:nvPr/>
        </p:nvSpPr>
        <p:spPr>
          <a:xfrm>
            <a:off x="11094098" y="6531429"/>
            <a:ext cx="1097902" cy="32657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9" name="Picture 28" descr="KLH Campus Locations - Vijayawada &amp; Hyderabad Campuses">
            <a:extLst>
              <a:ext uri="{FF2B5EF4-FFF2-40B4-BE49-F238E27FC236}">
                <a16:creationId xmlns:a16="http://schemas.microsoft.com/office/drawing/2014/main" id="{B12AB3C5-1B1F-EA95-B5F7-2CCDCDF648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7020" y="-495825"/>
            <a:ext cx="1904365" cy="14154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95313"/>
            <a:ext cx="518504" cy="201116"/>
          </a:xfrm>
          <a:prstGeom prst="roundRect">
            <a:avLst>
              <a:gd name="adj" fmla="val 7895"/>
            </a:avLst>
          </a:prstGeom>
          <a:noFill/>
          <a:ln w="6350">
            <a:solidFill>
              <a:srgbClr val="2150FE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848" y="642938"/>
            <a:ext cx="105765" cy="1057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99495" y="636317"/>
            <a:ext cx="810696" cy="121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CO4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61475" y="844365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OOP &amp; Exception Handling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61475" y="1898062"/>
            <a:ext cx="5049215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Object-Oriented Structure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8892" y="2206625"/>
            <a:ext cx="3534381" cy="353447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039691" y="1480648"/>
            <a:ext cx="549678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Key OOP Concepts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6039691" y="1789212"/>
            <a:ext cx="2702056" cy="1167209"/>
          </a:xfrm>
          <a:prstGeom prst="roundRect">
            <a:avLst>
              <a:gd name="adj" fmla="val 1700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190996" y="1940520"/>
            <a:ext cx="2399446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Class &amp; Objects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190996" y="2239764"/>
            <a:ext cx="2399446" cy="5653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Nested </a:t>
            </a:r>
            <a:r>
              <a:rPr lang="en-US" sz="10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ParkingRecord</a:t>
            </a: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class groups all session data using parameterized constructors and </a:t>
            </a:r>
            <a:r>
              <a:rPr lang="en-US" sz="10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keyword.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8834316" y="1789212"/>
            <a:ext cx="2702155" cy="1167209"/>
          </a:xfrm>
          <a:prstGeom prst="roundRect">
            <a:avLst>
              <a:gd name="adj" fmla="val 1700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985621" y="1940520"/>
            <a:ext cx="2399545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Static Members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8985621" y="2239764"/>
            <a:ext cx="2399545" cy="372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Shared application state and </a:t>
            </a:r>
            <a:r>
              <a:rPr lang="en-US" sz="10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static final</a:t>
            </a: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constants defined at class level.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039691" y="3048992"/>
            <a:ext cx="5496780" cy="974527"/>
          </a:xfrm>
          <a:prstGeom prst="roundRect">
            <a:avLst>
              <a:gd name="adj" fmla="val 2037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190996" y="3200301"/>
            <a:ext cx="519417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Exception Handling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190996" y="3499545"/>
            <a:ext cx="5194170" cy="372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try-catch</a:t>
            </a: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blocks handle </a:t>
            </a:r>
            <a:r>
              <a:rPr lang="en-US" sz="10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NumberFormatException</a:t>
            </a: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(invalid input) and </a:t>
            </a:r>
            <a:r>
              <a:rPr lang="en-US" sz="10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IOException</a:t>
            </a: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(file errors), preventing abnormal termination.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039691" y="4127698"/>
            <a:ext cx="6106364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Code Reference: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039691" y="4411861"/>
            <a:ext cx="5496780" cy="1746647"/>
          </a:xfrm>
          <a:prstGeom prst="roundRect">
            <a:avLst>
              <a:gd name="adj" fmla="val 1136"/>
            </a:avLst>
          </a:prstGeom>
          <a:solidFill>
            <a:srgbClr val="F2F2F2"/>
          </a:solidFill>
          <a:ln/>
        </p:spPr>
      </p:sp>
      <p:sp>
        <p:nvSpPr>
          <p:cNvPr id="20" name="Text 16"/>
          <p:cNvSpPr/>
          <p:nvPr/>
        </p:nvSpPr>
        <p:spPr>
          <a:xfrm>
            <a:off x="6198437" y="4544120"/>
            <a:ext cx="5179288" cy="1482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6F42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ParkingRecord(String token, String name,</a:t>
            </a:r>
            <a:endParaRPr lang="en-US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6F42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String phone, String vehicle,</a:t>
            </a:r>
            <a:endParaRPr lang="en-US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6F42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String type, String level,</a:t>
            </a:r>
            <a:endParaRPr lang="en-US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6F42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int slot, long entryTime,</a:t>
            </a:r>
            <a:endParaRPr lang="en-US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6F42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int duration) {</a:t>
            </a:r>
            <a:endParaRPr lang="en-US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6F42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this.token = token; ...</a:t>
            </a:r>
            <a:endParaRPr lang="en-US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6F42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D7E3293-29F9-A3F6-0FA8-6EAE90C200A9}"/>
              </a:ext>
            </a:extLst>
          </p:cNvPr>
          <p:cNvSpPr/>
          <p:nvPr/>
        </p:nvSpPr>
        <p:spPr>
          <a:xfrm>
            <a:off x="11094098" y="6531429"/>
            <a:ext cx="1097902" cy="32657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3" name="Picture 22" descr="KLH Campus Locations - Vijayawada &amp; Hyderabad Campuses">
            <a:extLst>
              <a:ext uri="{FF2B5EF4-FFF2-40B4-BE49-F238E27FC236}">
                <a16:creationId xmlns:a16="http://schemas.microsoft.com/office/drawing/2014/main" id="{446D04FD-1F60-CEEC-C683-8E2C2FEDA0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690" y="-449015"/>
            <a:ext cx="1904365" cy="14154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69119"/>
            <a:ext cx="555810" cy="215305"/>
          </a:xfrm>
          <a:prstGeom prst="roundRect">
            <a:avLst>
              <a:gd name="adj" fmla="val 7901"/>
            </a:avLst>
          </a:prstGeom>
          <a:noFill/>
          <a:ln w="6350">
            <a:solidFill>
              <a:srgbClr val="2150FE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503" y="620018"/>
            <a:ext cx="113404" cy="1134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6560" y="613903"/>
            <a:ext cx="825281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CO5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61475" y="836783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Strings &amp; File I/O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661475" y="2167817"/>
            <a:ext cx="52614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String Processing Methods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61475" y="2503884"/>
            <a:ext cx="2577539" cy="1007963"/>
          </a:xfrm>
          <a:prstGeom prst="roundRect">
            <a:avLst>
              <a:gd name="adj" fmla="val 2110"/>
            </a:avLst>
          </a:prstGeom>
          <a:solidFill>
            <a:srgbClr val="F2EEEE"/>
          </a:solidFill>
          <a:ln/>
        </p:spPr>
      </p:sp>
      <p:sp>
        <p:nvSpPr>
          <p:cNvPr id="8" name="Text 5"/>
          <p:cNvSpPr/>
          <p:nvPr/>
        </p:nvSpPr>
        <p:spPr>
          <a:xfrm>
            <a:off x="803156" y="2645569"/>
            <a:ext cx="229417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trim()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03156" y="2973288"/>
            <a:ext cx="2294178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Removes surrounding whitespace from all user inputs.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45275" y="2503884"/>
            <a:ext cx="2577639" cy="1007963"/>
          </a:xfrm>
          <a:prstGeom prst="roundRect">
            <a:avLst>
              <a:gd name="adj" fmla="val 2110"/>
            </a:avLst>
          </a:prstGeom>
          <a:solidFill>
            <a:srgbClr val="F2EEEE"/>
          </a:solidFill>
          <a:ln/>
        </p:spPr>
      </p:sp>
      <p:sp>
        <p:nvSpPr>
          <p:cNvPr id="11" name="Text 8"/>
          <p:cNvSpPr/>
          <p:nvPr/>
        </p:nvSpPr>
        <p:spPr>
          <a:xfrm>
            <a:off x="3486956" y="2645569"/>
            <a:ext cx="229427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toUpperCase()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3486956" y="2973288"/>
            <a:ext cx="2294277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Normalizes vehicle registration numbers for consistent storage.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61475" y="3618111"/>
            <a:ext cx="2577539" cy="1007963"/>
          </a:xfrm>
          <a:prstGeom prst="roundRect">
            <a:avLst>
              <a:gd name="adj" fmla="val 2110"/>
            </a:avLst>
          </a:prstGeom>
          <a:solidFill>
            <a:srgbClr val="F2EEEE"/>
          </a:solidFill>
          <a:ln/>
        </p:spPr>
      </p:sp>
      <p:sp>
        <p:nvSpPr>
          <p:cNvPr id="14" name="Text 11"/>
          <p:cNvSpPr/>
          <p:nvPr/>
        </p:nvSpPr>
        <p:spPr>
          <a:xfrm>
            <a:off x="803156" y="3759795"/>
            <a:ext cx="229417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equalsIgnoreCase()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803156" y="4087515"/>
            <a:ext cx="2294178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Case-insensitive comparisons for status and type checks.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345275" y="3618111"/>
            <a:ext cx="2577639" cy="1007963"/>
          </a:xfrm>
          <a:prstGeom prst="roundRect">
            <a:avLst>
              <a:gd name="adj" fmla="val 2110"/>
            </a:avLst>
          </a:prstGeom>
          <a:solidFill>
            <a:srgbClr val="F2EEEE"/>
          </a:solidFill>
          <a:ln/>
        </p:spPr>
      </p:sp>
      <p:sp>
        <p:nvSpPr>
          <p:cNvPr id="17" name="Text 14"/>
          <p:cNvSpPr/>
          <p:nvPr/>
        </p:nvSpPr>
        <p:spPr>
          <a:xfrm>
            <a:off x="3486956" y="3759795"/>
            <a:ext cx="229427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matches()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3486956" y="4087515"/>
            <a:ext cx="2294277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Validates 10-digit phone numbers using a regular expression.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61475" y="4732338"/>
            <a:ext cx="5261439" cy="809526"/>
          </a:xfrm>
          <a:prstGeom prst="roundRect">
            <a:avLst>
              <a:gd name="adj" fmla="val 2627"/>
            </a:avLst>
          </a:prstGeom>
          <a:solidFill>
            <a:srgbClr val="F2EEEE"/>
          </a:solidFill>
          <a:ln/>
        </p:spPr>
      </p:sp>
      <p:sp>
        <p:nvSpPr>
          <p:cNvPr id="20" name="Text 17"/>
          <p:cNvSpPr/>
          <p:nvPr/>
        </p:nvSpPr>
        <p:spPr>
          <a:xfrm>
            <a:off x="803156" y="4874022"/>
            <a:ext cx="497807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split("\\|", -1)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803156" y="5201741"/>
            <a:ext cx="4978077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Separates pipe-delimited fields when loading saved records.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275131" y="1540556"/>
            <a:ext cx="52614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File Persistence Workflow</a:t>
            </a:r>
            <a:endParaRPr lang="en-US" sz="1350" dirty="0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2836" y="1876623"/>
            <a:ext cx="3946029" cy="163601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026435" y="2963508"/>
            <a:ext cx="997641" cy="220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Read &amp; Reconstruct Records</a:t>
            </a:r>
            <a:endParaRPr lang="en-US" sz="650" dirty="0"/>
          </a:p>
        </p:txBody>
      </p:sp>
      <p:sp>
        <p:nvSpPr>
          <p:cNvPr id="25" name="Text 21"/>
          <p:cNvSpPr/>
          <p:nvPr/>
        </p:nvSpPr>
        <p:spPr>
          <a:xfrm>
            <a:off x="9752274" y="2963508"/>
            <a:ext cx="997642" cy="220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Write to parking_records.txt</a:t>
            </a:r>
            <a:endParaRPr lang="en-US" sz="650" dirty="0"/>
          </a:p>
        </p:txBody>
      </p:sp>
      <p:sp>
        <p:nvSpPr>
          <p:cNvPr id="26" name="Text 22"/>
          <p:cNvSpPr/>
          <p:nvPr/>
        </p:nvSpPr>
        <p:spPr>
          <a:xfrm>
            <a:off x="9805544" y="2264602"/>
            <a:ext cx="961801" cy="11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Convert to Pipe-Delimited</a:t>
            </a:r>
            <a:endParaRPr lang="en-US" sz="650" dirty="0"/>
          </a:p>
        </p:txBody>
      </p:sp>
      <p:sp>
        <p:nvSpPr>
          <p:cNvPr id="27" name="Text 23"/>
          <p:cNvSpPr/>
          <p:nvPr/>
        </p:nvSpPr>
        <p:spPr>
          <a:xfrm>
            <a:off x="7083387" y="2268530"/>
            <a:ext cx="883738" cy="11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ParkingRecord Objects</a:t>
            </a:r>
            <a:endParaRPr lang="en-US" sz="650" dirty="0"/>
          </a:p>
        </p:txBody>
      </p:sp>
      <p:sp>
        <p:nvSpPr>
          <p:cNvPr id="28" name="Text 24"/>
          <p:cNvSpPr/>
          <p:nvPr/>
        </p:nvSpPr>
        <p:spPr>
          <a:xfrm>
            <a:off x="6275131" y="3637147"/>
            <a:ext cx="52614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Code References</a:t>
            </a:r>
            <a:endParaRPr lang="en-US" sz="1350" dirty="0"/>
          </a:p>
        </p:txBody>
      </p:sp>
      <p:sp>
        <p:nvSpPr>
          <p:cNvPr id="29" name="Shape 25"/>
          <p:cNvSpPr/>
          <p:nvPr/>
        </p:nvSpPr>
        <p:spPr>
          <a:xfrm>
            <a:off x="6275131" y="3973215"/>
            <a:ext cx="5261439" cy="1417439"/>
          </a:xfrm>
          <a:prstGeom prst="roundRect">
            <a:avLst>
              <a:gd name="adj" fmla="val 1500"/>
            </a:avLst>
          </a:prstGeom>
          <a:solidFill>
            <a:srgbClr val="F2F2F2"/>
          </a:solidFill>
          <a:ln/>
        </p:spPr>
      </p:sp>
      <p:sp>
        <p:nvSpPr>
          <p:cNvPr id="30" name="Text 26"/>
          <p:cNvSpPr/>
          <p:nvPr/>
        </p:nvSpPr>
        <p:spPr>
          <a:xfrm>
            <a:off x="6445188" y="4114899"/>
            <a:ext cx="4921325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Write records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Files.write(Path.of(FILE), lines);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Read and parse on startup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String[] p = line.split("\\|", -1);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6275131" y="5510213"/>
            <a:ext cx="5261439" cy="659011"/>
          </a:xfrm>
          <a:prstGeom prst="roundRect">
            <a:avLst>
              <a:gd name="adj" fmla="val 3227"/>
            </a:avLst>
          </a:prstGeom>
          <a:solidFill>
            <a:srgbClr val="CCD7FF"/>
          </a:solidFill>
          <a:ln/>
        </p:spPr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6812" y="5667573"/>
            <a:ext cx="177200" cy="141684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735693" y="5641280"/>
            <a:ext cx="4659196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Text-file persistence allows parking records to survive program restarts without an external database.</a:t>
            </a:r>
            <a:endParaRPr lang="en-US" sz="110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D7E392A-4715-BF8B-33A7-1DEDF4D8A7E4}"/>
              </a:ext>
            </a:extLst>
          </p:cNvPr>
          <p:cNvSpPr/>
          <p:nvPr/>
        </p:nvSpPr>
        <p:spPr>
          <a:xfrm>
            <a:off x="11094098" y="6531429"/>
            <a:ext cx="1097902" cy="32657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6" name="Picture 35" descr="KLH Campus Locations - Vijayawada &amp; Hyderabad Campuses">
            <a:extLst>
              <a:ext uri="{FF2B5EF4-FFF2-40B4-BE49-F238E27FC236}">
                <a16:creationId xmlns:a16="http://schemas.microsoft.com/office/drawing/2014/main" id="{D40848E4-126C-7B76-6618-12DE8507A0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1818" y="-495958"/>
            <a:ext cx="1904365" cy="141548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83828"/>
            <a:ext cx="555810" cy="215305"/>
          </a:xfrm>
          <a:prstGeom prst="roundRect">
            <a:avLst>
              <a:gd name="adj" fmla="val 7901"/>
            </a:avLst>
          </a:prstGeom>
          <a:noFill/>
          <a:ln w="6350">
            <a:solidFill>
              <a:srgbClr val="2150FE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503" y="834727"/>
            <a:ext cx="113404" cy="1134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6560" y="828612"/>
            <a:ext cx="825281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CO6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61475" y="1051493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Collections &amp; Generics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661475" y="2104416"/>
            <a:ext cx="582211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Collections Used in the Project</a:t>
            </a:r>
            <a:endParaRPr lang="en-US" sz="13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4556" y="2444849"/>
            <a:ext cx="212620" cy="21262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22037" y="2440484"/>
            <a:ext cx="536154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ArrayList&lt;ParkingRecord&gt;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1122037" y="2768203"/>
            <a:ext cx="5361548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Primary store for all parking sessions — active and completed. Records are added with </a:t>
            </a:r>
            <a:r>
              <a:rPr lang="en-US" sz="11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add()</a:t>
            </a: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and traversed with enhanced </a:t>
            </a:r>
            <a:r>
              <a:rPr lang="en-US" sz="11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loops.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4556" y="3394770"/>
            <a:ext cx="212620" cy="21262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22037" y="3390404"/>
            <a:ext cx="536154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ArrayList&lt;String&gt;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1122037" y="3718123"/>
            <a:ext cx="5361548" cy="211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Holds pipe-delimited lines to be written to the text file during </a:t>
            </a:r>
            <a:r>
              <a:rPr lang="en-US" sz="11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saveRecords()</a:t>
            </a: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4556" y="4146252"/>
            <a:ext cx="212620" cy="21262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22037" y="4141887"/>
            <a:ext cx="536154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Generics for Type Safety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1122037" y="4469606"/>
            <a:ext cx="5361548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Type parameters ensure the compiler enforces correct element types throughout the application.</a:t>
            </a:r>
            <a:endParaRPr lang="en-US" sz="11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4556" y="5083473"/>
            <a:ext cx="212620" cy="21262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122037" y="5079107"/>
            <a:ext cx="536154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Arrays.asList().indexOf()</a:t>
            </a:r>
            <a:endParaRPr lang="en-US" sz="1350" dirty="0"/>
          </a:p>
        </p:txBody>
      </p:sp>
      <p:sp>
        <p:nvSpPr>
          <p:cNvPr id="18" name="Text 11"/>
          <p:cNvSpPr/>
          <p:nvPr/>
        </p:nvSpPr>
        <p:spPr>
          <a:xfrm>
            <a:off x="1122037" y="5406827"/>
            <a:ext cx="536154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Finds the configured parking-level index when reconstructing records from file.</a:t>
            </a:r>
            <a:endParaRPr lang="en-US" sz="1100" dirty="0"/>
          </a:p>
        </p:txBody>
      </p:sp>
      <p:sp>
        <p:nvSpPr>
          <p:cNvPr id="19" name="Text 12"/>
          <p:cNvSpPr/>
          <p:nvPr/>
        </p:nvSpPr>
        <p:spPr>
          <a:xfrm>
            <a:off x="6835802" y="1755265"/>
            <a:ext cx="470066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Data Processing Flow</a:t>
            </a:r>
            <a:endParaRPr lang="en-US" sz="135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3361" y="2091333"/>
            <a:ext cx="3525452" cy="1547614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021414" y="3212871"/>
            <a:ext cx="617978" cy="95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Store Records</a:t>
            </a:r>
            <a:endParaRPr lang="en-US" sz="600" dirty="0"/>
          </a:p>
        </p:txBody>
      </p:sp>
      <p:sp>
        <p:nvSpPr>
          <p:cNvPr id="22" name="Text 14"/>
          <p:cNvSpPr/>
          <p:nvPr/>
        </p:nvSpPr>
        <p:spPr>
          <a:xfrm>
            <a:off x="8021414" y="3335536"/>
            <a:ext cx="617978" cy="133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1000"/>
              </a:lnSpc>
              <a:buNone/>
            </a:pPr>
            <a:r>
              <a:rPr lang="en-US" sz="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ArrayList holds sessions</a:t>
            </a:r>
            <a:endParaRPr lang="en-US" sz="450" dirty="0"/>
          </a:p>
        </p:txBody>
      </p:sp>
      <p:sp>
        <p:nvSpPr>
          <p:cNvPr id="23" name="Text 15"/>
          <p:cNvSpPr/>
          <p:nvPr/>
        </p:nvSpPr>
        <p:spPr>
          <a:xfrm>
            <a:off x="9756505" y="3093601"/>
            <a:ext cx="617978" cy="1910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Dashboard Summary</a:t>
            </a:r>
            <a:endParaRPr lang="en-US" sz="600" dirty="0"/>
          </a:p>
        </p:txBody>
      </p:sp>
      <p:sp>
        <p:nvSpPr>
          <p:cNvPr id="24" name="Text 16"/>
          <p:cNvSpPr/>
          <p:nvPr/>
        </p:nvSpPr>
        <p:spPr>
          <a:xfrm>
            <a:off x="9756505" y="3311767"/>
            <a:ext cx="617978" cy="133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1000"/>
              </a:lnSpc>
              <a:buNone/>
            </a:pPr>
            <a:r>
              <a:rPr lang="en-US" sz="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Compute counts and totals</a:t>
            </a:r>
            <a:endParaRPr lang="en-US" sz="450" dirty="0"/>
          </a:p>
        </p:txBody>
      </p:sp>
      <p:sp>
        <p:nvSpPr>
          <p:cNvPr id="25" name="Text 17"/>
          <p:cNvSpPr/>
          <p:nvPr/>
        </p:nvSpPr>
        <p:spPr>
          <a:xfrm>
            <a:off x="8894052" y="2253623"/>
            <a:ext cx="617978" cy="95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Iterate &amp; Search</a:t>
            </a:r>
            <a:endParaRPr lang="en-US" sz="600" dirty="0"/>
          </a:p>
        </p:txBody>
      </p:sp>
      <p:sp>
        <p:nvSpPr>
          <p:cNvPr id="26" name="Text 18"/>
          <p:cNvSpPr/>
          <p:nvPr/>
        </p:nvSpPr>
        <p:spPr>
          <a:xfrm>
            <a:off x="8894052" y="2376288"/>
            <a:ext cx="617978" cy="1337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1000"/>
              </a:lnSpc>
              <a:buNone/>
            </a:pPr>
            <a:r>
              <a:rPr lang="en-US" sz="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Enhanced for loop traverses list</a:t>
            </a:r>
            <a:endParaRPr lang="en-US" sz="450" dirty="0"/>
          </a:p>
        </p:txBody>
      </p:sp>
      <p:sp>
        <p:nvSpPr>
          <p:cNvPr id="27" name="Shape 19"/>
          <p:cNvSpPr/>
          <p:nvPr/>
        </p:nvSpPr>
        <p:spPr>
          <a:xfrm>
            <a:off x="6835802" y="3758505"/>
            <a:ext cx="4700668" cy="1417439"/>
          </a:xfrm>
          <a:prstGeom prst="roundRect">
            <a:avLst>
              <a:gd name="adj" fmla="val 1500"/>
            </a:avLst>
          </a:prstGeom>
          <a:solidFill>
            <a:srgbClr val="F2F2F2"/>
          </a:solidFill>
          <a:ln/>
        </p:spPr>
      </p:sp>
      <p:sp>
        <p:nvSpPr>
          <p:cNvPr id="28" name="Text 20"/>
          <p:cNvSpPr/>
          <p:nvPr/>
        </p:nvSpPr>
        <p:spPr>
          <a:xfrm>
            <a:off x="7005859" y="3900190"/>
            <a:ext cx="4360555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(ParkingRecord r : records) {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(r.status.equals("ACTIVE"))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active++;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total += r.bill;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6835802" y="5295503"/>
            <a:ext cx="4700668" cy="659011"/>
          </a:xfrm>
          <a:prstGeom prst="roundRect">
            <a:avLst>
              <a:gd name="adj" fmla="val 3227"/>
            </a:avLst>
          </a:prstGeom>
          <a:solidFill>
            <a:srgbClr val="CCD7FF"/>
          </a:solidFill>
          <a:ln/>
        </p:spPr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7483" y="5452864"/>
            <a:ext cx="177200" cy="141684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296364" y="5426571"/>
            <a:ext cx="4098426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project uses </a:t>
            </a:r>
            <a:r>
              <a:rPr lang="en-US" sz="11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ArrayList</a:t>
            </a: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generics, and iteration only. It does not implement streams, lambdas, HashMap, or HashSet.</a:t>
            </a:r>
            <a:endParaRPr lang="en-US" sz="11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75FD5E3-A968-25DE-7845-3447434D77E6}"/>
              </a:ext>
            </a:extLst>
          </p:cNvPr>
          <p:cNvSpPr/>
          <p:nvPr/>
        </p:nvSpPr>
        <p:spPr>
          <a:xfrm>
            <a:off x="11094098" y="6531429"/>
            <a:ext cx="1097902" cy="32657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4" name="Picture 33" descr="KLH Campus Locations - Vijayawada &amp; Hyderabad Campuses">
            <a:extLst>
              <a:ext uri="{FF2B5EF4-FFF2-40B4-BE49-F238E27FC236}">
                <a16:creationId xmlns:a16="http://schemas.microsoft.com/office/drawing/2014/main" id="{9CB842C0-40CE-AC33-E123-5A959460AB8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1818" y="-495958"/>
            <a:ext cx="1904365" cy="141548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90865" y="1269781"/>
            <a:ext cx="3125755" cy="698977"/>
          </a:xfrm>
          <a:prstGeom prst="roundRect">
            <a:avLst>
              <a:gd name="adj" fmla="val 7900"/>
            </a:avLst>
          </a:prstGeom>
          <a:solidFill>
            <a:srgbClr val="CCD7FF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4882531" y="1306592"/>
            <a:ext cx="1213316" cy="113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3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61475" y="2769530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Summary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96082" y="3333006"/>
            <a:ext cx="5284556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Learning Outcomes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61475" y="3798689"/>
            <a:ext cx="5284556" cy="486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project integrates </a:t>
            </a:r>
            <a:r>
              <a:rPr lang="en-US" sz="2000" b="1" dirty="0">
                <a:solidFill>
                  <a:srgbClr val="2150F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all six COs</a:t>
            </a:r>
            <a:r>
              <a:rPr lang="en-US" sz="2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: Java fundamentals, control flow, methods &amp; arrays, OOP &amp; exceptions, strings &amp; file I/O, and collections — demonstrating modular design, input validation, and data persistence in a practical application.</a:t>
            </a:r>
            <a:endParaRPr lang="en-US" sz="2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BFCE8F-536D-1BD4-D7BB-BE0E47F70B51}"/>
              </a:ext>
            </a:extLst>
          </p:cNvPr>
          <p:cNvSpPr/>
          <p:nvPr/>
        </p:nvSpPr>
        <p:spPr>
          <a:xfrm>
            <a:off x="11094098" y="6531429"/>
            <a:ext cx="1097902" cy="32657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 descr="KLH Campus Locations - Vijayawada &amp; Hyderabad Campuses">
            <a:extLst>
              <a:ext uri="{FF2B5EF4-FFF2-40B4-BE49-F238E27FC236}">
                <a16:creationId xmlns:a16="http://schemas.microsoft.com/office/drawing/2014/main" id="{2738EF81-49F3-DBF4-3E45-B428F29C17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818" y="-495958"/>
            <a:ext cx="1904365" cy="141548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3523" y="707624"/>
            <a:ext cx="10868745" cy="719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Screen Shots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4" y="1406273"/>
            <a:ext cx="5813379" cy="2320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Parking Dashboard 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332776" y="3287216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4142383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332776" y="4142383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45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61FA1E-7D34-E90B-0213-B96D9FFE5DD1}"/>
              </a:ext>
            </a:extLst>
          </p:cNvPr>
          <p:cNvSpPr/>
          <p:nvPr/>
        </p:nvSpPr>
        <p:spPr>
          <a:xfrm>
            <a:off x="11094098" y="6531429"/>
            <a:ext cx="1097902" cy="32657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6101361-28B5-C2A7-A3D5-A935791FDD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523" y="1938603"/>
            <a:ext cx="3856054" cy="351312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39F8BCA-0C1A-BB9C-D60A-A47867935A15}"/>
              </a:ext>
            </a:extLst>
          </p:cNvPr>
          <p:cNvSpPr txBox="1"/>
          <p:nvPr/>
        </p:nvSpPr>
        <p:spPr>
          <a:xfrm>
            <a:off x="6474854" y="1272897"/>
            <a:ext cx="2967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PARKING A TWO WHEELER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C8B13CF-614A-3915-1B9F-03590804C9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2155" y="1872379"/>
            <a:ext cx="3513124" cy="3513124"/>
          </a:xfrm>
          <a:prstGeom prst="rect">
            <a:avLst/>
          </a:prstGeom>
        </p:spPr>
      </p:pic>
      <p:pic>
        <p:nvPicPr>
          <p:cNvPr id="14" name="Picture 13" descr="KLH Campus Locations - Vijayawada &amp; Hyderabad Campuses">
            <a:extLst>
              <a:ext uri="{FF2B5EF4-FFF2-40B4-BE49-F238E27FC236}">
                <a16:creationId xmlns:a16="http://schemas.microsoft.com/office/drawing/2014/main" id="{DDBC4370-A170-750E-20FE-554B0411DF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818" y="-495958"/>
            <a:ext cx="1904365" cy="141548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E6C0BF-2CE5-4333-6A3E-F286CE7FF1A4}"/>
              </a:ext>
            </a:extLst>
          </p:cNvPr>
          <p:cNvSpPr txBox="1"/>
          <p:nvPr/>
        </p:nvSpPr>
        <p:spPr>
          <a:xfrm>
            <a:off x="811762" y="363894"/>
            <a:ext cx="31444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PARKING SLOT AVAILABILITY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1E5D24-2C40-25F2-7F62-6E1D952A76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740" y="895739"/>
            <a:ext cx="3482642" cy="57356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359E2C7-0EB5-074E-6352-B60E8C9AA651}"/>
              </a:ext>
            </a:extLst>
          </p:cNvPr>
          <p:cNvSpPr txBox="1"/>
          <p:nvPr/>
        </p:nvSpPr>
        <p:spPr>
          <a:xfrm>
            <a:off x="5728996" y="363894"/>
            <a:ext cx="5779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SEARCH VEHICLE USING TOKEN NUMBER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E365AD-0B6A-E3C6-EC03-85AFE75F8D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0788" y="839576"/>
            <a:ext cx="3398815" cy="565453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81D4D33-0ABE-C75D-2627-EB968C6472E7}"/>
              </a:ext>
            </a:extLst>
          </p:cNvPr>
          <p:cNvSpPr/>
          <p:nvPr/>
        </p:nvSpPr>
        <p:spPr>
          <a:xfrm>
            <a:off x="11028784" y="6494106"/>
            <a:ext cx="1163216" cy="3638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" name="Picture 9" descr="KLH Campus Locations - Vijayawada &amp; Hyderabad Campuses">
            <a:extLst>
              <a:ext uri="{FF2B5EF4-FFF2-40B4-BE49-F238E27FC236}">
                <a16:creationId xmlns:a16="http://schemas.microsoft.com/office/drawing/2014/main" id="{AD991A87-FA8A-AE78-AFF7-45E163F00B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818" y="-495958"/>
            <a:ext cx="1904365" cy="1415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3652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773B8-638A-A71B-DFF2-679DA1D10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6F7CE3-6CDF-9ABB-AD5D-5113792F083F}"/>
              </a:ext>
            </a:extLst>
          </p:cNvPr>
          <p:cNvSpPr txBox="1"/>
          <p:nvPr/>
        </p:nvSpPr>
        <p:spPr>
          <a:xfrm>
            <a:off x="811762" y="363894"/>
            <a:ext cx="31444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OBTAINING CUSTOMER DETAILS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C09583-67A1-A793-09A5-559D347AA58E}"/>
              </a:ext>
            </a:extLst>
          </p:cNvPr>
          <p:cNvSpPr txBox="1"/>
          <p:nvPr/>
        </p:nvSpPr>
        <p:spPr>
          <a:xfrm>
            <a:off x="6583604" y="363894"/>
            <a:ext cx="4445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                 VEHICLE EXIT</a:t>
            </a: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6A2CC3-D4F1-7303-2242-16BF1D6AD4AA}"/>
              </a:ext>
            </a:extLst>
          </p:cNvPr>
          <p:cNvSpPr/>
          <p:nvPr/>
        </p:nvSpPr>
        <p:spPr>
          <a:xfrm>
            <a:off x="11028784" y="6494106"/>
            <a:ext cx="1163216" cy="3638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82D2A1-7AFA-F721-8F5C-B0B69D81EF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398" y="839576"/>
            <a:ext cx="3238781" cy="57664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EF5DECE-504A-3D23-E4F6-C6A3494247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2065" y="972696"/>
            <a:ext cx="3246401" cy="5521410"/>
          </a:xfrm>
          <a:prstGeom prst="rect">
            <a:avLst/>
          </a:prstGeom>
        </p:spPr>
      </p:pic>
      <p:pic>
        <p:nvPicPr>
          <p:cNvPr id="12" name="Picture 11" descr="KLH Campus Locations - Vijayawada &amp; Hyderabad Campuses">
            <a:extLst>
              <a:ext uri="{FF2B5EF4-FFF2-40B4-BE49-F238E27FC236}">
                <a16:creationId xmlns:a16="http://schemas.microsoft.com/office/drawing/2014/main" id="{166C3600-4A7A-FF2F-F330-1311E2C65E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818" y="-495958"/>
            <a:ext cx="1904365" cy="1415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2260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3735B-FE42-4880-5C77-56076D70D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35CBCE-B5B0-0C7D-A734-7DE254A4BA86}"/>
              </a:ext>
            </a:extLst>
          </p:cNvPr>
          <p:cNvSpPr txBox="1"/>
          <p:nvPr/>
        </p:nvSpPr>
        <p:spPr>
          <a:xfrm>
            <a:off x="811762" y="363894"/>
            <a:ext cx="3357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Obtaining the Parking Summary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912F5A-AE7C-EF49-DEF8-4693AD836261}"/>
              </a:ext>
            </a:extLst>
          </p:cNvPr>
          <p:cNvSpPr txBox="1"/>
          <p:nvPr/>
        </p:nvSpPr>
        <p:spPr>
          <a:xfrm>
            <a:off x="6583604" y="363894"/>
            <a:ext cx="44451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                  EXIT THE INTERFACE</a:t>
            </a:r>
          </a:p>
          <a:p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9D4536-EF51-4E80-8EBF-F6924321BDD4}"/>
              </a:ext>
            </a:extLst>
          </p:cNvPr>
          <p:cNvSpPr/>
          <p:nvPr/>
        </p:nvSpPr>
        <p:spPr>
          <a:xfrm>
            <a:off x="11028784" y="6494106"/>
            <a:ext cx="1163216" cy="3638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54C543-A9C1-0FE5-10A2-1D91CF75E2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403" y="1082642"/>
            <a:ext cx="3162574" cy="40678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2D988ED-2740-0054-07FA-FE85B62A4C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4283" y="1010224"/>
            <a:ext cx="3368332" cy="4067855"/>
          </a:xfrm>
          <a:prstGeom prst="rect">
            <a:avLst/>
          </a:prstGeom>
        </p:spPr>
      </p:pic>
      <p:pic>
        <p:nvPicPr>
          <p:cNvPr id="12" name="Picture 11" descr="KLH Campus Locations - Vijayawada &amp; Hyderabad Campuses">
            <a:extLst>
              <a:ext uri="{FF2B5EF4-FFF2-40B4-BE49-F238E27FC236}">
                <a16:creationId xmlns:a16="http://schemas.microsoft.com/office/drawing/2014/main" id="{0674F6A2-24A5-5943-BFA4-BEAB54D3E2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818" y="-495958"/>
            <a:ext cx="1904365" cy="1415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7689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8681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Geo Tag Photo and GitHub Link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3070523"/>
            <a:ext cx="1680128" cy="287139"/>
          </a:xfrm>
          <a:prstGeom prst="roundRect">
            <a:avLst>
              <a:gd name="adj" fmla="val 7899"/>
            </a:avLst>
          </a:prstGeom>
          <a:solidFill>
            <a:srgbClr val="CCD7FF"/>
          </a:solidFill>
          <a:ln/>
        </p:spPr>
      </p:sp>
      <p:sp>
        <p:nvSpPr>
          <p:cNvPr id="4" name="Text 2"/>
          <p:cNvSpPr/>
          <p:nvPr/>
        </p:nvSpPr>
        <p:spPr>
          <a:xfrm>
            <a:off x="774879" y="3131326"/>
            <a:ext cx="206290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GITHUB REPOSITORY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61475" y="3570287"/>
            <a:ext cx="5203794" cy="11337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          </a:t>
            </a:r>
            <a:r>
              <a:rPr lang="en-US" sz="1850" b="1" u="sng" dirty="0">
                <a:solidFill>
                  <a:srgbClr val="2150F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https://github.com/srivishwachaitanya/KLH-PSPJ-S16-TEAM.NO-3</a:t>
            </a:r>
            <a:r>
              <a:rPr lang="en-US" sz="1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        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332776" y="2254156"/>
            <a:ext cx="5203794" cy="3260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endParaRPr lang="en-US" sz="51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8F968D-E483-3CF4-EDE3-A815DCF6EDB8}"/>
              </a:ext>
            </a:extLst>
          </p:cNvPr>
          <p:cNvSpPr/>
          <p:nvPr/>
        </p:nvSpPr>
        <p:spPr>
          <a:xfrm>
            <a:off x="11094098" y="6531429"/>
            <a:ext cx="1097902" cy="32657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 descr="KLH Campus Locations - Vijayawada &amp; Hyderabad Campuses">
            <a:extLst>
              <a:ext uri="{FF2B5EF4-FFF2-40B4-BE49-F238E27FC236}">
                <a16:creationId xmlns:a16="http://schemas.microsoft.com/office/drawing/2014/main" id="{0EAE126F-9429-39AB-1FA7-BDC2C1C196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818" y="-495958"/>
            <a:ext cx="1904365" cy="14154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2150FE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1239</Words>
  <Application>Microsoft Office PowerPoint</Application>
  <PresentationFormat>Widescreen</PresentationFormat>
  <Paragraphs>237</Paragraphs>
  <Slides>15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Heebo</vt:lpstr>
      <vt:lpstr>Crimson Pro SemiBold</vt:lpstr>
      <vt:lpstr>Arial</vt:lpstr>
      <vt:lpstr>Consolas</vt:lpstr>
      <vt:lpstr>Heebo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kaushald0407@outlook.com</cp:lastModifiedBy>
  <cp:revision>5</cp:revision>
  <dcterms:created xsi:type="dcterms:W3CDTF">2026-10-16T01:28:29Z</dcterms:created>
  <dcterms:modified xsi:type="dcterms:W3CDTF">2026-10-16T08:01:56Z</dcterms:modified>
</cp:coreProperties>
</file>