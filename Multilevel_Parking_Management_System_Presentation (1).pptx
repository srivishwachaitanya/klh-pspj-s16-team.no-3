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2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2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2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CCFF-527E-4AC9-A45F-A8196F49E0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3000" b="1"/>
              <a:t>MULTI-LEVEL PARKING MANAGEMENT SYSTEM</a:t>
            </a:r>
            <a:br/>
            <a:r>
              <a:rPr sz="3000" b="1"/>
              <a:t>Team No: [Enter Team Number]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2AC95-AA7D-A76A-037F-6B2DB5A27E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2200"/>
              <a:t>Student Name: [Name]    Roll No: [Roll No]</a:t>
            </a:r>
            <a:br/>
            <a:r>
              <a:rPr sz="2200"/>
              <a:t>Student Name: [Name]    Roll No: [Roll No]</a:t>
            </a:r>
            <a:br/>
            <a:r>
              <a:rPr sz="2200"/>
              <a:t>Student Name: [Name]    Roll No: [Roll No]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FCDBBB2-97B1-B1CE-72F7-62625B77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200"/>
              <a:t>16-10-2026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EDCEF-417A-3750-BB67-C2592E7F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1AF3-F02C-0F4C-0929-57F8B753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2F73-2B13-AB30-C0D8-CBA5CE269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09728" rIns="109728" tIns="73152" bIns="36576" anchor="t"/>
          <a:lstStyle/>
          <a:p>
            <a:pPr>
              <a:spcAft>
                <a:spcPts val="700"/>
              </a:spcAft>
              <a:defRPr sz="1700">
                <a:latin typeface="Aptos"/>
              </a:defRPr>
            </a:pPr>
            <a:r>
              <a:rPr b="1" sz="1700">
                <a:solidFill>
                  <a:srgbClr val="1F4E79"/>
                </a:solidFill>
                <a:latin typeface="Aptos"/>
              </a:rPr>
              <a:t>Project overview: </a:t>
            </a:r>
            <a:r>
              <a:rPr sz="1700">
                <a:solidFill>
                  <a:srgbClr val="2D2D2D"/>
                </a:solidFill>
                <a:latin typeface="Aptos"/>
              </a:rPr>
              <a:t>A console-based Java application that manages vehicle entry, parking-space allocation, token generation, vehicle exit, and bill calculation.</a:t>
            </a:r>
            <a:endParaRPr lang="en-IN"/>
          </a:p>
          <a:p>
            <a:pPr>
              <a:spcAft>
                <a:spcPts val="700"/>
              </a:spcAft>
              <a:defRPr sz="1700">
                <a:latin typeface="Aptos"/>
              </a:defRPr>
            </a:pPr>
            <a:r>
              <a:rPr b="1" sz="1700">
                <a:solidFill>
                  <a:srgbClr val="1F4E79"/>
                </a:solidFill>
                <a:latin typeface="Aptos"/>
              </a:rPr>
              <a:t>Main objective: </a:t>
            </a:r>
            <a:r>
              <a:rPr sz="1700">
                <a:solidFill>
                  <a:srgbClr val="2D2D2D"/>
                </a:solidFill>
                <a:latin typeface="Aptos"/>
              </a:rPr>
              <a:t>Organize parking into separate levels for two-wheelers and four-wheelers while tracking occupied and available slots.</a:t>
            </a:r>
          </a:p>
          <a:p>
            <a:pPr>
              <a:spcAft>
                <a:spcPts val="700"/>
              </a:spcAft>
              <a:defRPr sz="1700">
                <a:latin typeface="Aptos"/>
              </a:defRPr>
            </a:pPr>
            <a:r>
              <a:rPr b="1" sz="1700">
                <a:solidFill>
                  <a:srgbClr val="1F4E79"/>
                </a:solidFill>
                <a:latin typeface="Aptos"/>
              </a:rPr>
              <a:t>Technology used: </a:t>
            </a:r>
            <a:r>
              <a:rPr sz="1700">
                <a:solidFill>
                  <a:srgbClr val="2D2D2D"/>
                </a:solidFill>
                <a:latin typeface="Aptos"/>
              </a:rPr>
              <a:t>Java, Scanner, ArrayList, file handling (NIO), and Java date/time classes.</a:t>
            </a:r>
          </a:p>
          <a:p>
            <a:pPr>
              <a:spcAft>
                <a:spcPts val="700"/>
              </a:spcAft>
              <a:defRPr sz="1700">
                <a:latin typeface="Aptos"/>
              </a:defRPr>
            </a:pPr>
            <a:r>
              <a:rPr b="1" sz="1700">
                <a:solidFill>
                  <a:srgbClr val="1F4E79"/>
                </a:solidFill>
                <a:latin typeface="Aptos"/>
              </a:rPr>
              <a:t>Persistence: </a:t>
            </a:r>
            <a:r>
              <a:rPr sz="1700">
                <a:solidFill>
                  <a:srgbClr val="2D2D2D"/>
                </a:solidFill>
                <a:latin typeface="Aptos"/>
              </a:rPr>
              <a:t>Parking records are saved in parking_records.txt and loaded again when the program starts.</a:t>
            </a:r>
          </a:p>
          <a:p>
            <a:pPr>
              <a:spcAft>
                <a:spcPts val="700"/>
              </a:spcAft>
              <a:defRPr sz="1700">
                <a:latin typeface="Aptos"/>
              </a:defRPr>
            </a:pPr>
            <a:r>
              <a:rPr b="1" sz="1700">
                <a:solidFill>
                  <a:srgbClr val="1F4E79"/>
                </a:solidFill>
                <a:latin typeface="Aptos"/>
              </a:rPr>
              <a:t>Outcome: </a:t>
            </a:r>
            <a:r>
              <a:rPr sz="1700">
                <a:solidFill>
                  <a:srgbClr val="2D2D2D"/>
                </a:solidFill>
                <a:latin typeface="Aptos"/>
              </a:rPr>
              <a:t>A simple, menu-driven prototype for managing 20 parking spots across four levels.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200"/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AC2B-1702-695F-E0B5-9F6550F0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/>
              <a:t>Understanding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CF377-DEED-0D67-3271-7CBBBC860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09728" rIns="109728" tIns="73152" bIns="36576" anchor="t"/>
          <a:lstStyle/>
          <a:p>
            <a:pPr>
              <a:spcAft>
                <a:spcPts val="700"/>
              </a:spcAft>
              <a:defRPr sz="1700">
                <a:latin typeface="Aptos"/>
              </a:defRPr>
            </a:pPr>
            <a:r>
              <a:rPr b="1" sz="1700">
                <a:solidFill>
                  <a:srgbClr val="1F4E79"/>
                </a:solidFill>
                <a:latin typeface="Aptos"/>
              </a:rPr>
              <a:t>Problem: </a:t>
            </a:r>
            <a:r>
              <a:rPr sz="1700">
                <a:solidFill>
                  <a:srgbClr val="2D2D2D"/>
                </a:solidFill>
                <a:latin typeface="Aptos"/>
              </a:rPr>
              <a:t>Manual parking management can lead to confusion about vehicle locations, available slots, customer details, and parking charges.</a:t>
            </a:r>
            <a:endParaRPr lang="en-IN"/>
          </a:p>
          <a:p>
            <a:pPr>
              <a:spcAft>
                <a:spcPts val="700"/>
              </a:spcAft>
              <a:defRPr sz="1700">
                <a:latin typeface="Aptos"/>
              </a:defRPr>
            </a:pPr>
            <a:r>
              <a:rPr b="1" sz="1700">
                <a:solidFill>
                  <a:srgbClr val="1F4E79"/>
                </a:solidFill>
                <a:latin typeface="Aptos"/>
              </a:rPr>
              <a:t>Proposed solution: </a:t>
            </a:r>
            <a:r>
              <a:rPr sz="1700">
                <a:solidFill>
                  <a:srgbClr val="2D2D2D"/>
                </a:solidFill>
                <a:latin typeface="Aptos"/>
              </a:rPr>
              <a:t>A menu-driven system that registers each vehicle, assigns a suitable slot, issues a unique token, and records the parking session.</a:t>
            </a:r>
          </a:p>
          <a:p>
            <a:pPr>
              <a:spcAft>
                <a:spcPts val="700"/>
              </a:spcAft>
              <a:defRPr sz="1700">
                <a:latin typeface="Aptos"/>
              </a:defRPr>
            </a:pPr>
            <a:r>
              <a:rPr b="1" sz="1700">
                <a:solidFill>
                  <a:srgbClr val="1F4E79"/>
                </a:solidFill>
                <a:latin typeface="Aptos"/>
              </a:rPr>
              <a:t>Functional requirements: </a:t>
            </a:r>
            <a:r>
              <a:rPr sz="1700">
                <a:solidFill>
                  <a:srgbClr val="2D2D2D"/>
                </a:solidFill>
                <a:latin typeface="Aptos"/>
              </a:rPr>
              <a:t>Park a vehicle; view available slots; search by token; view all records; remove a vehicle and generate a bill; view summary.</a:t>
            </a:r>
          </a:p>
          <a:p>
            <a:pPr>
              <a:spcAft>
                <a:spcPts val="700"/>
              </a:spcAft>
              <a:defRPr sz="1700">
                <a:latin typeface="Aptos"/>
              </a:defRPr>
            </a:pPr>
            <a:r>
              <a:rPr b="1" sz="1700">
                <a:solidFill>
                  <a:srgbClr val="1F4E79"/>
                </a:solidFill>
                <a:latin typeface="Aptos"/>
              </a:rPr>
              <a:t>Vehicle categories: </a:t>
            </a:r>
            <a:r>
              <a:rPr sz="1700">
                <a:solidFill>
                  <a:srgbClr val="2D2D2D"/>
                </a:solidFill>
                <a:latin typeface="Aptos"/>
              </a:rPr>
              <a:t>T1 and T2 are reserved for two-wheelers; F1 and F2 are reserved for four-wheelers.</a:t>
            </a:r>
          </a:p>
          <a:p>
            <a:pPr>
              <a:spcAft>
                <a:spcPts val="700"/>
              </a:spcAft>
              <a:defRPr sz="1700">
                <a:latin typeface="Aptos"/>
              </a:defRPr>
            </a:pPr>
            <a:r>
              <a:rPr b="1" sz="1700">
                <a:solidFill>
                  <a:srgbClr val="1F4E79"/>
                </a:solidFill>
                <a:latin typeface="Aptos"/>
              </a:rPr>
              <a:t>Scope / assumptions: </a:t>
            </a:r>
            <a:r>
              <a:rPr sz="1700">
                <a:solidFill>
                  <a:srgbClr val="2D2D2D"/>
                </a:solidFill>
                <a:latin typeface="Aptos"/>
              </a:rPr>
              <a:t>This is a console demonstration. Payment is not collected, and the expected duration guides slot selection while the bill uses actual elapsed time.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50AE-3599-26AF-9C41-62ADA08A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200"/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1277-3D40-ACA2-AEC9-E9A0E9DC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4CC5-4FD5-611A-4481-E878E281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/>
              <a:t>CO 1 – System Overview &amp;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B5369-B8D0-CB2C-61B6-348BDF6E4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09728" rIns="109728" tIns="73152" bIns="36576" anchor="t"/>
          <a:lstStyle/>
          <a:p>
            <a:pPr>
              <a:spcAft>
                <a:spcPts val="500"/>
              </a:spcAft>
              <a:defRPr sz="1500">
                <a:latin typeface="Aptos"/>
              </a:defRPr>
            </a:pPr>
            <a:r>
              <a:rPr b="1" sz="1500">
                <a:solidFill>
                  <a:srgbClr val="1F4E79"/>
                </a:solidFill>
                <a:latin typeface="Aptos"/>
              </a:rPr>
              <a:t>Application flow: </a:t>
            </a:r>
            <a:r>
              <a:rPr sz="1500">
                <a:solidFill>
                  <a:srgbClr val="2D2D2D"/>
                </a:solidFill>
                <a:latin typeface="Aptos"/>
              </a:rPr>
              <a:t>Start → Load saved records → Display dashboard → Read menu choice → Execute selected operation → Save changes → Continue or exit.</a:t>
            </a:r>
            <a:endParaRPr lang="en-IN"/>
          </a:p>
          <a:p>
            <a:pPr>
              <a:spcAft>
                <a:spcPts val="500"/>
              </a:spcAft>
              <a:defRPr sz="1500">
                <a:latin typeface="Aptos"/>
              </a:defRPr>
            </a:pPr>
            <a:r>
              <a:rPr b="1" sz="1500">
                <a:solidFill>
                  <a:srgbClr val="1F4E79"/>
                </a:solidFill>
                <a:latin typeface="Aptos"/>
              </a:rPr>
              <a:t>Main menu: </a:t>
            </a:r>
            <a:r>
              <a:rPr sz="1500">
                <a:solidFill>
                  <a:srgbClr val="2D2D2D"/>
                </a:solidFill>
                <a:latin typeface="Aptos"/>
              </a:rPr>
              <a:t>1. Park a Vehicle   2. View Available Slots   3. Search by Token</a:t>
            </a:r>
          </a:p>
          <a:p>
            <a:pPr>
              <a:spcAft>
                <a:spcPts val="500"/>
              </a:spcAft>
              <a:defRPr sz="1500">
                <a:latin typeface="Aptos"/>
              </a:defRPr>
            </a:pPr>
            <a:r>
              <a:rPr sz="1500">
                <a:solidFill>
                  <a:srgbClr val="2D2D2D"/>
                </a:solidFill>
                <a:latin typeface="Aptos"/>
              </a:rPr>
              <a:t>4. View Customer and Vehicle Details   5. Remove Vehicle and Generate Bill</a:t>
            </a:r>
          </a:p>
          <a:p>
            <a:pPr>
              <a:spcAft>
                <a:spcPts val="500"/>
              </a:spcAft>
              <a:defRPr sz="1500">
                <a:latin typeface="Aptos"/>
              </a:defRPr>
            </a:pPr>
            <a:r>
              <a:rPr sz="1500">
                <a:solidFill>
                  <a:srgbClr val="2D2D2D"/>
                </a:solidFill>
                <a:latin typeface="Aptos"/>
              </a:rPr>
              <a:t>6. Parking Summary   7. Exit</a:t>
            </a:r>
          </a:p>
          <a:p>
            <a:pPr>
              <a:spcAft>
                <a:spcPts val="500"/>
              </a:spcAft>
              <a:defRPr sz="1500">
                <a:latin typeface="Aptos"/>
              </a:defRPr>
            </a:pPr>
            <a:r>
              <a:rPr b="1" sz="1500">
                <a:solidFill>
                  <a:srgbClr val="1F4E79"/>
                </a:solidFill>
                <a:latin typeface="Aptos"/>
              </a:rPr>
              <a:t>Input validation: </a:t>
            </a:r>
            <a:r>
              <a:rPr sz="1500">
                <a:solidFill>
                  <a:srgbClr val="2D2D2D"/>
                </a:solidFill>
                <a:latin typeface="Aptos"/>
              </a:rPr>
              <a:t>The program validates menu choices, vehicle type, positive parking duration (1–720 hours), customer name, and a 10-digit phone number.</a:t>
            </a:r>
          </a:p>
          <a:p>
            <a:pPr>
              <a:spcAft>
                <a:spcPts val="500"/>
              </a:spcAft>
              <a:defRPr sz="1500">
                <a:latin typeface="Aptos"/>
              </a:defRPr>
            </a:pPr>
            <a:r>
              <a:rPr b="1" sz="1500">
                <a:solidFill>
                  <a:srgbClr val="1F4E79"/>
                </a:solidFill>
                <a:latin typeface="Aptos"/>
              </a:rPr>
              <a:t>Duplicate prevention: </a:t>
            </a:r>
            <a:r>
              <a:rPr sz="1500">
                <a:solidFill>
                  <a:srgbClr val="2D2D2D"/>
                </a:solidFill>
                <a:latin typeface="Aptos"/>
              </a:rPr>
              <a:t>A vehicle registration number cannot have more than one ACTIVE parking record.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7C684-562B-9D58-E086-68CEC325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200"/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33CBD-9819-BA1C-8720-D89215B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FDF4-A21D-11D6-CA7A-382058E2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/>
              <a:t>CO 2 – Parking Levels &amp; Slot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27864-8698-BA0E-D44D-3E693AAB4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09728" rIns="109728" tIns="73152" bIns="36576" anchor="t"/>
          <a:lstStyle/>
          <a:p>
            <a:pPr>
              <a:spcAft>
                <a:spcPts val="500"/>
              </a:spcAft>
              <a:defRPr sz="1500">
                <a:latin typeface="Aptos"/>
              </a:defRPr>
            </a:pPr>
            <a:r>
              <a:rPr b="1" sz="1500">
                <a:solidFill>
                  <a:srgbClr val="1F4E79"/>
                </a:solidFill>
                <a:latin typeface="Aptos"/>
              </a:rPr>
              <a:t>Level design: </a:t>
            </a:r>
            <a:r>
              <a:rPr sz="1500">
                <a:solidFill>
                  <a:srgbClr val="2D2D2D"/>
                </a:solidFill>
                <a:latin typeface="Aptos"/>
              </a:rPr>
              <a:t>T1 and T2: two-wheeler parking. F1 and F2: four-wheeler parking.</a:t>
            </a:r>
            <a:endParaRPr lang="en-IN"/>
          </a:p>
          <a:p>
            <a:pPr>
              <a:spcAft>
                <a:spcPts val="500"/>
              </a:spcAft>
              <a:defRPr sz="1500">
                <a:latin typeface="Aptos"/>
              </a:defRPr>
            </a:pPr>
            <a:r>
              <a:rPr b="1" sz="1500">
                <a:solidFill>
                  <a:srgbClr val="1F4E79"/>
                </a:solidFill>
                <a:latin typeface="Aptos"/>
              </a:rPr>
              <a:t>Capacity: </a:t>
            </a:r>
            <a:r>
              <a:rPr sz="1500">
                <a:solidFill>
                  <a:srgbClr val="2D2D2D"/>
                </a:solidFill>
                <a:latin typeface="Aptos"/>
              </a:rPr>
              <a:t>5 spots per level × 4 levels = 20 total parking spots.</a:t>
            </a:r>
          </a:p>
          <a:p>
            <a:pPr>
              <a:spcAft>
                <a:spcPts val="500"/>
              </a:spcAft>
              <a:defRPr sz="1500">
                <a:latin typeface="Aptos"/>
              </a:defRPr>
            </a:pPr>
            <a:r>
              <a:rPr b="1" sz="1500">
                <a:solidFill>
                  <a:srgbClr val="1F4E79"/>
                </a:solidFill>
                <a:latin typeface="Aptos"/>
              </a:rPr>
              <a:t>Duration-based preference: </a:t>
            </a:r>
            <a:r>
              <a:rPr sz="1500">
                <a:solidFill>
                  <a:srgbClr val="2D2D2D"/>
                </a:solidFill>
                <a:latin typeface="Aptos"/>
              </a:rPr>
              <a:t>1–2 hours: prefer spot 1; 3–5 hours: prefer spot 3; more than 5 hours: prefer spot 5.</a:t>
            </a:r>
          </a:p>
          <a:p>
            <a:pPr>
              <a:spcAft>
                <a:spcPts val="500"/>
              </a:spcAft>
              <a:defRPr sz="1500">
                <a:latin typeface="Aptos"/>
              </a:defRPr>
            </a:pPr>
            <a:r>
              <a:rPr b="1" sz="1500">
                <a:solidFill>
                  <a:srgbClr val="1F4E79"/>
                </a:solidFill>
                <a:latin typeface="Aptos"/>
              </a:rPr>
              <a:t>Allocation algorithm: </a:t>
            </a:r>
            <a:r>
              <a:rPr sz="1500">
                <a:solidFill>
                  <a:srgbClr val="2D2D2D"/>
                </a:solidFill>
                <a:latin typeface="Aptos"/>
              </a:rPr>
              <a:t>findSpot() searches the appropriate vehicle-type levels for a free preferred-or-farther spot, then checks closer spots if needed.</a:t>
            </a:r>
          </a:p>
          <a:p>
            <a:pPr>
              <a:spcAft>
                <a:spcPts val="500"/>
              </a:spcAft>
              <a:defRPr sz="1500">
                <a:latin typeface="Aptos"/>
              </a:defRPr>
            </a:pPr>
            <a:r>
              <a:rPr b="1" sz="1500">
                <a:solidFill>
                  <a:srgbClr val="1F4E79"/>
                </a:solidFill>
                <a:latin typeface="Aptos"/>
              </a:rPr>
              <a:t>Availability display: </a:t>
            </a:r>
            <a:r>
              <a:rPr sz="1500">
                <a:solidFill>
                  <a:srgbClr val="2D2D2D"/>
                </a:solidFill>
                <a:latin typeface="Aptos"/>
              </a:rPr>
              <a:t>showAvailableSlots() lists each spot as AVAILABLE or OCCUPIED and shows the number of free spots per level.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11724-4931-2511-D4E0-AFF95EF4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200"/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84BF-AE73-C39E-0CCD-CD938FF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DDFB-DFEC-7A21-D889-17965A22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/>
              <a:t>CO 3 – Java Classes &amp; Data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ACD64-BF58-761A-504E-C381351EE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09728" rIns="109728" tIns="73152" bIns="36576" anchor="t"/>
          <a:lstStyle/>
          <a:p>
            <a:pPr>
              <a:spcAft>
                <a:spcPts val="500"/>
              </a:spcAft>
              <a:defRPr sz="1500">
                <a:latin typeface="Aptos"/>
              </a:defRPr>
            </a:pPr>
            <a:r>
              <a:rPr b="1" sz="1500">
                <a:solidFill>
                  <a:srgbClr val="1F4E79"/>
                </a:solidFill>
                <a:latin typeface="Aptos"/>
              </a:rPr>
              <a:t>ParkingRecord class: </a:t>
            </a:r>
            <a:r>
              <a:rPr sz="1500">
                <a:solidFill>
                  <a:srgbClr val="2D2D2D"/>
                </a:solidFill>
                <a:latin typeface="Aptos"/>
              </a:rPr>
              <a:t>Stores token, customer name, phone, vehicle number, vehicle type, expected duration, level, slot, entry time, status, and bill.</a:t>
            </a:r>
            <a:endParaRPr lang="en-IN"/>
          </a:p>
          <a:p>
            <a:pPr>
              <a:spcAft>
                <a:spcPts val="500"/>
              </a:spcAft>
              <a:defRPr sz="1500">
                <a:latin typeface="Aptos"/>
              </a:defRPr>
            </a:pPr>
            <a:r>
              <a:rPr b="1" sz="1500">
                <a:solidFill>
                  <a:srgbClr val="1F4E79"/>
                </a:solidFill>
                <a:latin typeface="Aptos"/>
              </a:rPr>
              <a:t>Core data structures: </a:t>
            </a:r>
            <a:r>
              <a:rPr sz="1500">
                <a:solidFill>
                  <a:srgbClr val="2D2D2D"/>
                </a:solidFill>
                <a:latin typeface="Aptos"/>
              </a:rPr>
              <a:t>ArrayList&lt;ParkingRecord&gt; stores sessions; boolean[][] occupied tracks spot occupancy; String[] levels stores level IDs.</a:t>
            </a:r>
          </a:p>
          <a:p>
            <a:pPr>
              <a:spcAft>
                <a:spcPts val="500"/>
              </a:spcAft>
              <a:defRPr sz="1500">
                <a:latin typeface="Aptos"/>
              </a:defRPr>
            </a:pPr>
            <a:r>
              <a:rPr b="1" sz="1500">
                <a:solidFill>
                  <a:srgbClr val="1F4E79"/>
                </a:solidFill>
                <a:latin typeface="Aptos"/>
              </a:rPr>
              <a:t>Token generation: </a:t>
            </a:r>
            <a:r>
              <a:rPr sz="1500">
                <a:solidFill>
                  <a:srgbClr val="2D2D2D"/>
                </a:solidFill>
                <a:latin typeface="Aptos"/>
              </a:rPr>
              <a:t>A token is generated using the current time in milliseconds and a counter.</a:t>
            </a:r>
          </a:p>
          <a:p>
            <a:pPr>
              <a:spcAft>
                <a:spcPts val="500"/>
              </a:spcAft>
              <a:defRPr sz="1500">
                <a:latin typeface="Aptos"/>
              </a:defRPr>
            </a:pPr>
            <a:r>
              <a:rPr b="1" sz="1500">
                <a:solidFill>
                  <a:srgbClr val="1F4E79"/>
                </a:solidFill>
                <a:latin typeface="Aptos"/>
              </a:rPr>
              <a:t>Search: </a:t>
            </a:r>
            <a:r>
              <a:rPr sz="1500">
                <a:solidFill>
                  <a:srgbClr val="2D2D2D"/>
                </a:solidFill>
                <a:latin typeface="Aptos"/>
              </a:rPr>
              <a:t>findRecord() locates a record by token, ignoring letter case.</a:t>
            </a:r>
          </a:p>
          <a:p>
            <a:pPr>
              <a:spcAft>
                <a:spcPts val="500"/>
              </a:spcAft>
              <a:defRPr sz="1500">
                <a:latin typeface="Aptos"/>
              </a:defRPr>
            </a:pPr>
            <a:r>
              <a:rPr b="1" sz="1500">
                <a:solidFill>
                  <a:srgbClr val="1F4E79"/>
                </a:solidFill>
                <a:latin typeface="Aptos"/>
              </a:rPr>
              <a:t>Time formatting: </a:t>
            </a:r>
            <a:r>
              <a:rPr sz="1500">
                <a:solidFill>
                  <a:srgbClr val="2D2D2D"/>
                </a:solidFill>
                <a:latin typeface="Aptos"/>
              </a:rPr>
              <a:t>LocalDateTime and DateTimeFormatter present entry and exit timestamps in a readable format.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78FF-2013-E475-6F3D-0A16F858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200"/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39BA-552D-5E87-9C16-8B57242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591A-E528-51A2-6477-BF5075B3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/>
              <a:t>CO 4 – Billing &amp; Vehicle Exit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763C4-B644-2CBF-4AE1-87632858C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09728" rIns="109728" tIns="73152" bIns="36576" anchor="t"/>
          <a:lstStyle/>
          <a:p>
            <a:pPr>
              <a:spcAft>
                <a:spcPts val="500"/>
              </a:spcAft>
              <a:defRPr sz="1500">
                <a:latin typeface="Aptos"/>
              </a:defRPr>
            </a:pPr>
            <a:r>
              <a:rPr b="1" sz="1500">
                <a:solidFill>
                  <a:srgbClr val="1F4E79"/>
                </a:solidFill>
                <a:latin typeface="Aptos"/>
              </a:rPr>
              <a:t>Vehicle exit: </a:t>
            </a:r>
            <a:r>
              <a:rPr sz="1500">
                <a:solidFill>
                  <a:srgbClr val="2D2D2D"/>
                </a:solidFill>
                <a:latin typeface="Aptos"/>
              </a:rPr>
              <a:t>The user enters the parking token. Only an ACTIVE session can be checked out.</a:t>
            </a:r>
            <a:endParaRPr lang="en-IN"/>
          </a:p>
          <a:p>
            <a:pPr>
              <a:spcAft>
                <a:spcPts val="500"/>
              </a:spcAft>
              <a:defRPr sz="1500">
                <a:latin typeface="Aptos"/>
              </a:defRPr>
            </a:pPr>
            <a:r>
              <a:rPr b="1" sz="1500">
                <a:solidFill>
                  <a:srgbClr val="1F4E79"/>
                </a:solidFill>
                <a:latin typeface="Aptos"/>
              </a:rPr>
              <a:t>Bill calculation: </a:t>
            </a:r>
            <a:r>
              <a:rPr sz="1500">
                <a:solidFill>
                  <a:srgbClr val="2D2D2D"/>
                </a:solidFill>
                <a:latin typeface="Aptos"/>
              </a:rPr>
              <a:t>Charged hours = maximum of 1 and the elapsed parking time rounded up to the next whole hour.</a:t>
            </a:r>
          </a:p>
          <a:p>
            <a:pPr>
              <a:spcAft>
                <a:spcPts val="500"/>
              </a:spcAft>
              <a:defRPr sz="1500">
                <a:latin typeface="Aptos"/>
              </a:defRPr>
            </a:pPr>
            <a:r>
              <a:rPr b="1" sz="1500">
                <a:solidFill>
                  <a:srgbClr val="1F4E79"/>
                </a:solidFill>
                <a:latin typeface="Aptos"/>
              </a:rPr>
              <a:t>Hourly rates: </a:t>
            </a:r>
            <a:r>
              <a:rPr sz="1500">
                <a:solidFill>
                  <a:srgbClr val="2D2D2D"/>
                </a:solidFill>
                <a:latin typeface="Aptos"/>
              </a:rPr>
              <a:t>Two-wheeler: Rs. 20/hour. Four-wheeler: Rs. 40/hour.</a:t>
            </a:r>
          </a:p>
          <a:p>
            <a:pPr>
              <a:spcAft>
                <a:spcPts val="500"/>
              </a:spcAft>
              <a:defRPr sz="1500">
                <a:latin typeface="Aptos"/>
              </a:defRPr>
            </a:pPr>
            <a:r>
              <a:rPr b="1" sz="1500">
                <a:solidFill>
                  <a:srgbClr val="1F4E79"/>
                </a:solidFill>
                <a:latin typeface="Aptos"/>
              </a:rPr>
              <a:t>Formula: </a:t>
            </a:r>
            <a:r>
              <a:rPr sz="1500">
                <a:solidFill>
                  <a:srgbClr val="2D2D2D"/>
                </a:solidFill>
                <a:latin typeface="Aptos"/>
              </a:rPr>
              <a:t>Total bill = charged hours × hourly rate.</a:t>
            </a:r>
          </a:p>
          <a:p>
            <a:pPr>
              <a:spcAft>
                <a:spcPts val="500"/>
              </a:spcAft>
              <a:defRPr sz="1500">
                <a:latin typeface="Aptos"/>
              </a:defRPr>
            </a:pPr>
            <a:r>
              <a:rPr b="1" sz="1500">
                <a:solidFill>
                  <a:srgbClr val="1F4E79"/>
                </a:solidFill>
                <a:latin typeface="Aptos"/>
              </a:rPr>
              <a:t>After checkout: </a:t>
            </a:r>
            <a:r>
              <a:rPr sz="1500">
                <a:solidFill>
                  <a:srgbClr val="2D2D2D"/>
                </a:solidFill>
                <a:latin typeface="Aptos"/>
              </a:rPr>
              <a:t>The record status becomes COMPLETED, the slot is released, and the updated record is saved.</a:t>
            </a:r>
          </a:p>
          <a:p>
            <a:pPr>
              <a:spcAft>
                <a:spcPts val="500"/>
              </a:spcAft>
              <a:defRPr sz="1500">
                <a:latin typeface="Aptos"/>
              </a:defRPr>
            </a:pPr>
            <a:r>
              <a:rPr b="1" sz="1500">
                <a:solidFill>
                  <a:srgbClr val="1F4E79"/>
                </a:solidFill>
                <a:latin typeface="Aptos"/>
              </a:rPr>
              <a:t>Important note: </a:t>
            </a:r>
            <a:r>
              <a:rPr sz="1500">
                <a:solidFill>
                  <a:srgbClr val="2D2D2D"/>
                </a:solidFill>
                <a:latin typeface="Aptos"/>
              </a:rPr>
              <a:t>The expected duration is used for allocation only; it is not used to cap the final bill.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15390-19B0-38A3-419D-59F37FA3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200"/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3250B-C6BE-E742-A34D-6B496E77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DDC3-4D1F-21CF-55F4-04AC539E2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/>
              <a:t>CO 5 – File Storage &amp;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2B8C9-B5A8-6FD1-7D16-20BF4FBD7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09728" rIns="109728" tIns="73152" bIns="36576" anchor="t"/>
          <a:lstStyle/>
          <a:p>
            <a:pPr>
              <a:spcAft>
                <a:spcPts val="500"/>
              </a:spcAft>
              <a:defRPr sz="1500">
                <a:latin typeface="Aptos"/>
              </a:defRPr>
            </a:pPr>
            <a:r>
              <a:rPr b="1" sz="1500">
                <a:solidFill>
                  <a:srgbClr val="1F4E79"/>
                </a:solidFill>
                <a:latin typeface="Aptos"/>
              </a:rPr>
              <a:t>Saving records: </a:t>
            </a:r>
            <a:r>
              <a:rPr sz="1500">
                <a:solidFill>
                  <a:srgbClr val="2D2D2D"/>
                </a:solidFill>
                <a:latin typeface="Aptos"/>
              </a:rPr>
              <a:t>saveRecords() writes all records to parking_records.txt using pipe-separated fields.</a:t>
            </a:r>
            <a:endParaRPr lang="en-IN"/>
          </a:p>
          <a:p>
            <a:pPr>
              <a:spcAft>
                <a:spcPts val="500"/>
              </a:spcAft>
              <a:defRPr sz="1500">
                <a:latin typeface="Aptos"/>
              </a:defRPr>
            </a:pPr>
            <a:r>
              <a:rPr b="1" sz="1500">
                <a:solidFill>
                  <a:srgbClr val="1F4E79"/>
                </a:solidFill>
                <a:latin typeface="Aptos"/>
              </a:rPr>
              <a:t>Loading records: </a:t>
            </a:r>
            <a:r>
              <a:rPr sz="1500">
                <a:solidFill>
                  <a:srgbClr val="2D2D2D"/>
                </a:solidFill>
                <a:latin typeface="Aptos"/>
              </a:rPr>
              <a:t>loadRecords() reads the file at startup and rebuilds the record list and occupied-slot map.</a:t>
            </a:r>
          </a:p>
          <a:p>
            <a:pPr>
              <a:spcAft>
                <a:spcPts val="500"/>
              </a:spcAft>
              <a:defRPr sz="1500">
                <a:latin typeface="Aptos"/>
              </a:defRPr>
            </a:pPr>
            <a:r>
              <a:rPr b="1" sz="1500">
                <a:solidFill>
                  <a:srgbClr val="1F4E79"/>
                </a:solidFill>
                <a:latin typeface="Aptos"/>
              </a:rPr>
              <a:t>Data checks: </a:t>
            </a:r>
            <a:r>
              <a:rPr sz="1500">
                <a:solidFill>
                  <a:srgbClr val="2D2D2D"/>
                </a:solidFill>
                <a:latin typeface="Aptos"/>
              </a:rPr>
              <a:t>Malformed records, invalid levels, out-of-range slots, invalid durations, and unknown statuses are skipped.</a:t>
            </a:r>
          </a:p>
          <a:p>
            <a:pPr>
              <a:spcAft>
                <a:spcPts val="500"/>
              </a:spcAft>
              <a:defRPr sz="1500">
                <a:latin typeface="Aptos"/>
              </a:defRPr>
            </a:pPr>
            <a:r>
              <a:rPr b="1" sz="1500">
                <a:solidFill>
                  <a:srgbClr val="1F4E79"/>
                </a:solidFill>
                <a:latin typeface="Aptos"/>
              </a:rPr>
              <a:t>Conflict handling: </a:t>
            </a:r>
            <a:r>
              <a:rPr sz="1500">
                <a:solidFill>
                  <a:srgbClr val="2D2D2D"/>
                </a:solidFill>
                <a:latin typeface="Aptos"/>
              </a:rPr>
              <a:t>If the file contains two ACTIVE records for the same spot, the conflicting later record is ignored.</a:t>
            </a:r>
          </a:p>
          <a:p>
            <a:pPr>
              <a:spcAft>
                <a:spcPts val="500"/>
              </a:spcAft>
              <a:defRPr sz="1500">
                <a:latin typeface="Aptos"/>
              </a:defRPr>
            </a:pPr>
            <a:r>
              <a:rPr b="1" sz="1500">
                <a:solidFill>
                  <a:srgbClr val="1F4E79"/>
                </a:solidFill>
                <a:latin typeface="Aptos"/>
              </a:rPr>
              <a:t>Error handling: </a:t>
            </a:r>
            <a:r>
              <a:rPr sz="1500">
                <a:solidFill>
                  <a:srgbClr val="2D2D2D"/>
                </a:solidFill>
                <a:latin typeface="Aptos"/>
              </a:rPr>
              <a:t>IOException and invalid numeric values are handled with messages instead of abruptly stopping the program.</a:t>
            </a:r>
          </a:p>
          <a:p>
            <a:pPr>
              <a:spcAft>
                <a:spcPts val="500"/>
              </a:spcAft>
              <a:defRPr sz="1500">
                <a:latin typeface="Aptos"/>
              </a:defRPr>
            </a:pPr>
            <a:r>
              <a:rPr b="1" sz="1500">
                <a:solidFill>
                  <a:srgbClr val="1F4E79"/>
                </a:solidFill>
                <a:latin typeface="Aptos"/>
              </a:rPr>
              <a:t>Limitation: </a:t>
            </a:r>
            <a:r>
              <a:rPr sz="1500">
                <a:solidFill>
                  <a:srgbClr val="2D2D2D"/>
                </a:solidFill>
                <a:latin typeface="Aptos"/>
              </a:rPr>
              <a:t>The text-file format is suitable for a student prototype; a database would be more robust for a production system.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4194-282F-9DD3-B905-AF4DCC70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200"/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EFFB7-2020-7F21-31F3-A08A79B5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36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7C36F-68C1-38D5-BFA7-072938C7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/>
              <a:t>CO 6 – Testing &amp;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AB529-5F96-F28F-CD50-8BFE419EE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09728" rIns="109728" tIns="73152" bIns="36576" anchor="t"/>
          <a:lstStyle/>
          <a:p>
            <a:pPr>
              <a:spcAft>
                <a:spcPts val="500"/>
              </a:spcAft>
              <a:defRPr sz="1500">
                <a:latin typeface="Aptos"/>
              </a:defRPr>
            </a:pPr>
            <a:r>
              <a:rPr b="1" sz="1500">
                <a:solidFill>
                  <a:srgbClr val="1F4E79"/>
                </a:solidFill>
                <a:latin typeface="Aptos"/>
              </a:rPr>
              <a:t>Dashboard summary: </a:t>
            </a:r>
            <a:r>
              <a:rPr sz="1500">
                <a:solidFill>
                  <a:srgbClr val="2D2D2D"/>
                </a:solidFill>
                <a:latin typeface="Aptos"/>
              </a:rPr>
              <a:t>Displays total spots, available spots, currently parked vehicles, completed sessions, and recorded bills.</a:t>
            </a:r>
            <a:endParaRPr lang="en-IN"/>
          </a:p>
          <a:p>
            <a:pPr>
              <a:spcAft>
                <a:spcPts val="500"/>
              </a:spcAft>
              <a:defRPr sz="1500">
                <a:latin typeface="Aptos"/>
              </a:defRPr>
            </a:pPr>
            <a:r>
              <a:rPr b="1" sz="1500">
                <a:solidFill>
                  <a:srgbClr val="1F4E79"/>
                </a:solidFill>
                <a:latin typeface="Aptos"/>
              </a:rPr>
              <a:t>Suggested test cases: </a:t>
            </a:r>
            <a:r>
              <a:rPr sz="1500">
                <a:solidFill>
                  <a:srgbClr val="2D2D2D"/>
                </a:solidFill>
                <a:latin typeface="Aptos"/>
              </a:rPr>
              <a:t>Park one two-wheeler; park one four-wheeler; fill a level; try a duplicate active vehicle; search a valid and invalid token.</a:t>
            </a:r>
          </a:p>
          <a:p>
            <a:pPr>
              <a:spcAft>
                <a:spcPts val="500"/>
              </a:spcAft>
              <a:defRPr sz="1500">
                <a:latin typeface="Aptos"/>
              </a:defRPr>
            </a:pPr>
            <a:r>
              <a:rPr b="1" sz="1500">
                <a:solidFill>
                  <a:srgbClr val="1F4E79"/>
                </a:solidFill>
                <a:latin typeface="Aptos"/>
              </a:rPr>
              <a:t>Checkout tests: </a:t>
            </a:r>
            <a:r>
              <a:rPr sz="1500">
                <a:solidFill>
                  <a:srgbClr val="2D2D2D"/>
                </a:solidFill>
                <a:latin typeface="Aptos"/>
              </a:rPr>
              <a:t>Exit an active token and confirm the bill, COMPLETED status, and released slot; try the same token again.</a:t>
            </a:r>
          </a:p>
          <a:p>
            <a:pPr>
              <a:spcAft>
                <a:spcPts val="500"/>
              </a:spcAft>
              <a:defRPr sz="1500">
                <a:latin typeface="Aptos"/>
              </a:defRPr>
            </a:pPr>
            <a:r>
              <a:rPr b="1" sz="1500">
                <a:solidFill>
                  <a:srgbClr val="1F4E79"/>
                </a:solidFill>
                <a:latin typeface="Aptos"/>
              </a:rPr>
              <a:t>Persistence test: </a:t>
            </a:r>
            <a:r>
              <a:rPr sz="1500">
                <a:solidFill>
                  <a:srgbClr val="2D2D2D"/>
                </a:solidFill>
                <a:latin typeface="Aptos"/>
              </a:rPr>
              <a:t>Close and restart the application; verify that active vehicles still occupy their saved spots.</a:t>
            </a:r>
          </a:p>
          <a:p>
            <a:pPr>
              <a:spcAft>
                <a:spcPts val="500"/>
              </a:spcAft>
              <a:defRPr sz="1500">
                <a:latin typeface="Aptos"/>
              </a:defRPr>
            </a:pPr>
            <a:r>
              <a:rPr b="1" sz="1500">
                <a:solidFill>
                  <a:srgbClr val="1F4E79"/>
                </a:solidFill>
                <a:latin typeface="Aptos"/>
              </a:rPr>
              <a:t>Expected result: </a:t>
            </a:r>
            <a:r>
              <a:rPr sz="1500">
                <a:solidFill>
                  <a:srgbClr val="2D2D2D"/>
                </a:solidFill>
                <a:latin typeface="Aptos"/>
              </a:rPr>
              <a:t>The system keeps parking categories separate, prevents duplicate active registration numbers, and updates availability and bills after checkout.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7D639-42E4-340C-86C7-AC49E0E4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200"/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618D2-09FF-1F94-1B2A-BA5BD90D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11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D3A7-F925-7472-F39D-15B33FC2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290F1-736B-3136-6FB3-89FC4E638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09728" rIns="109728" tIns="73152" bIns="36576" anchor="t"/>
          <a:lstStyle/>
          <a:p>
            <a:pPr>
              <a:spcAft>
                <a:spcPts val="700"/>
              </a:spcAft>
              <a:defRPr sz="1700">
                <a:latin typeface="Aptos"/>
              </a:defRPr>
            </a:pPr>
            <a:r>
              <a:rPr b="1" sz="1700">
                <a:solidFill>
                  <a:srgbClr val="1F4E79"/>
                </a:solidFill>
                <a:latin typeface="Aptos"/>
              </a:rPr>
              <a:t>Summary: </a:t>
            </a:r>
            <a:r>
              <a:rPr sz="1700">
                <a:solidFill>
                  <a:srgbClr val="2D2D2D"/>
                </a:solidFill>
                <a:latin typeface="Aptos"/>
              </a:rPr>
              <a:t>The project demonstrates how core Java concepts can be combined to solve a practical parking-management problem.</a:t>
            </a:r>
            <a:endParaRPr lang="en-IN"/>
          </a:p>
          <a:p>
            <a:pPr>
              <a:spcAft>
                <a:spcPts val="700"/>
              </a:spcAft>
              <a:defRPr sz="1700">
                <a:latin typeface="Aptos"/>
              </a:defRPr>
            </a:pPr>
            <a:r>
              <a:rPr b="1" sz="1700">
                <a:solidFill>
                  <a:srgbClr val="1F4E79"/>
                </a:solidFill>
                <a:latin typeface="Aptos"/>
              </a:rPr>
              <a:t>Key features: </a:t>
            </a:r>
            <a:r>
              <a:rPr sz="1700">
                <a:solidFill>
                  <a:srgbClr val="2D2D2D"/>
                </a:solidFill>
                <a:latin typeface="Aptos"/>
              </a:rPr>
              <a:t>Separate vehicle-type levels, duration-based slot allocation, token-based search, bill generation, availability reporting, and file persistence.</a:t>
            </a:r>
          </a:p>
          <a:p>
            <a:pPr>
              <a:spcAft>
                <a:spcPts val="700"/>
              </a:spcAft>
              <a:defRPr sz="1700">
                <a:latin typeface="Aptos"/>
              </a:defRPr>
            </a:pPr>
            <a:r>
              <a:rPr b="1" sz="1700">
                <a:solidFill>
                  <a:srgbClr val="1F4E79"/>
                </a:solidFill>
                <a:latin typeface="Aptos"/>
              </a:rPr>
              <a:t>Benefits: </a:t>
            </a:r>
            <a:r>
              <a:rPr sz="1700">
                <a:solidFill>
                  <a:srgbClr val="2D2D2D"/>
                </a:solidFill>
                <a:latin typeface="Aptos"/>
              </a:rPr>
              <a:t>Reduces manual tracking, makes slot status easy to check, and keeps a history of completed parking sessions.</a:t>
            </a:r>
          </a:p>
          <a:p>
            <a:pPr>
              <a:spcAft>
                <a:spcPts val="700"/>
              </a:spcAft>
              <a:defRPr sz="1700">
                <a:latin typeface="Aptos"/>
              </a:defRPr>
            </a:pPr>
            <a:r>
              <a:rPr b="1" sz="1700">
                <a:solidFill>
                  <a:srgbClr val="1F4E79"/>
                </a:solidFill>
                <a:latin typeface="Aptos"/>
              </a:rPr>
              <a:t>Future enhancements: </a:t>
            </a:r>
            <a:r>
              <a:rPr sz="1700">
                <a:solidFill>
                  <a:srgbClr val="2D2D2D"/>
                </a:solidFill>
                <a:latin typeface="Aptos"/>
              </a:rPr>
              <a:t>Database integration, graphical user interface, QR-code tokens, real payment integration, live sensors, and reports by date.</a:t>
            </a:r>
          </a:p>
          <a:p>
            <a:pPr>
              <a:spcAft>
                <a:spcPts val="700"/>
              </a:spcAft>
              <a:defRPr sz="1700">
                <a:latin typeface="Aptos"/>
              </a:defRPr>
            </a:pPr>
            <a:r>
              <a:rPr b="1" sz="1700">
                <a:solidFill>
                  <a:srgbClr val="1F4E79"/>
                </a:solidFill>
                <a:latin typeface="Aptos"/>
              </a:rPr>
              <a:t>Final statement: </a:t>
            </a:r>
            <a:r>
              <a:rPr sz="1700">
                <a:solidFill>
                  <a:srgbClr val="2D2D2D"/>
                </a:solidFill>
                <a:latin typeface="Aptos"/>
              </a:rPr>
              <a:t>The current implementation is a useful prototype that can be extended into a real-time parking solution.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20CA1-D5C4-5904-1345-350900EF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200"/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2BF1E-562C-F1F9-8BD5-71BDFB34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964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/>
              <a:t>Screen Shots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50197-AF06-5AEF-7EEE-2BB7A4AD9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09728" rIns="109728" tIns="73152" bIns="36576" anchor="t"/>
          <a:lstStyle/>
          <a:p>
            <a:pPr>
              <a:spcAft>
                <a:spcPts val="700"/>
              </a:spcAft>
              <a:defRPr sz="1700">
                <a:latin typeface="Aptos"/>
              </a:defRPr>
            </a:pPr>
            <a:r>
              <a:rPr b="1" sz="1700">
                <a:solidFill>
                  <a:srgbClr val="1F4E79"/>
                </a:solidFill>
                <a:latin typeface="Aptos"/>
              </a:rPr>
              <a:t>Screenshot 1 – Welcome &amp; Dashboard: </a:t>
            </a:r>
            <a:r>
              <a:rPr sz="1700">
                <a:solidFill>
                  <a:srgbClr val="2D2D2D"/>
                </a:solidFill>
                <a:latin typeface="Aptos"/>
              </a:rPr>
              <a:t>Insert a screenshot of the welcome screen and the seven-option home dashboard.</a:t>
            </a:r>
            <a:endParaRPr lang="en-IN"/>
          </a:p>
          <a:p>
            <a:pPr>
              <a:spcAft>
                <a:spcPts val="700"/>
              </a:spcAft>
              <a:defRPr sz="1700">
                <a:latin typeface="Aptos"/>
              </a:defRPr>
            </a:pPr>
            <a:r>
              <a:rPr b="1" sz="1700">
                <a:solidFill>
                  <a:srgbClr val="1F4E79"/>
                </a:solidFill>
                <a:latin typeface="Aptos"/>
              </a:rPr>
              <a:t>Screenshot 2 – Vehicle Registration: </a:t>
            </a:r>
            <a:r>
              <a:rPr sz="1700">
                <a:solidFill>
                  <a:srgbClr val="2D2D2D"/>
                </a:solidFill>
                <a:latin typeface="Aptos"/>
              </a:rPr>
              <a:t>Insert a screenshot showing customer details, vehicle type, duration, and the generated parking token.</a:t>
            </a:r>
          </a:p>
          <a:p>
            <a:pPr>
              <a:spcAft>
                <a:spcPts val="700"/>
              </a:spcAft>
              <a:defRPr sz="1700">
                <a:latin typeface="Aptos"/>
              </a:defRPr>
            </a:pPr>
            <a:r>
              <a:rPr b="1" sz="1700">
                <a:solidFill>
                  <a:srgbClr val="1F4E79"/>
                </a:solidFill>
                <a:latin typeface="Aptos"/>
              </a:rPr>
              <a:t>Screenshot 3 – Slot Availability: </a:t>
            </a:r>
            <a:r>
              <a:rPr sz="1700">
                <a:solidFill>
                  <a:srgbClr val="2D2D2D"/>
                </a:solidFill>
                <a:latin typeface="Aptos"/>
              </a:rPr>
              <a:t>Insert a screenshot showing T1, T2, F1, and F2 with AVAILABLE/OCCUPIED spots.</a:t>
            </a:r>
          </a:p>
          <a:p>
            <a:pPr>
              <a:spcAft>
                <a:spcPts val="700"/>
              </a:spcAft>
              <a:defRPr sz="1700">
                <a:latin typeface="Aptos"/>
              </a:defRPr>
            </a:pPr>
            <a:r>
              <a:rPr b="1" sz="1700">
                <a:solidFill>
                  <a:srgbClr val="1F4E79"/>
                </a:solidFill>
                <a:latin typeface="Aptos"/>
              </a:rPr>
              <a:t>Screenshot 4 – Parking Bill: </a:t>
            </a:r>
            <a:r>
              <a:rPr sz="1700">
                <a:solidFill>
                  <a:srgbClr val="2D2D2D"/>
                </a:solidFill>
                <a:latin typeface="Aptos"/>
              </a:rPr>
              <a:t>Insert a screenshot showing entry time, exit time, charged hours, hourly rate, and total bill.</a:t>
            </a:r>
          </a:p>
          <a:p>
            <a:pPr>
              <a:spcAft>
                <a:spcPts val="700"/>
              </a:spcAft>
              <a:defRPr sz="1700">
                <a:latin typeface="Aptos"/>
              </a:defRPr>
            </a:pPr>
            <a:r>
              <a:rPr b="1" sz="1700">
                <a:solidFill>
                  <a:srgbClr val="1F4E79"/>
                </a:solidFill>
                <a:latin typeface="Aptos"/>
              </a:rPr>
              <a:t>How to capture: </a:t>
            </a:r>
            <a:r>
              <a:rPr sz="1700">
                <a:solidFill>
                  <a:srgbClr val="2D2D2D"/>
                </a:solidFill>
                <a:latin typeface="Aptos"/>
              </a:rPr>
              <a:t>Run the Java program in your IDE or terminal, open each screen, and replace these prompts with actual screenshots.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11A9-71C6-FE7D-18DF-375E38D5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200"/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251AB-4887-6558-97BB-1B1D9180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29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F2EB-DC8E-A39F-8C45-4CB818547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/>
              <a:t>Geo Tag Photo and GitHub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E026B-5FC7-651F-1236-75071A9D2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09728" rIns="109728" tIns="73152" bIns="36576" anchor="t"/>
          <a:lstStyle/>
          <a:p>
            <a:pPr>
              <a:spcAft>
                <a:spcPts val="700"/>
              </a:spcAft>
              <a:defRPr sz="1700">
                <a:latin typeface="Aptos"/>
              </a:defRPr>
            </a:pPr>
            <a:r>
              <a:rPr b="1" sz="1700">
                <a:solidFill>
                  <a:srgbClr val="1F4E79"/>
                </a:solidFill>
                <a:latin typeface="Aptos"/>
              </a:rPr>
              <a:t>Geo-tagged photo: </a:t>
            </a:r>
            <a:r>
              <a:rPr sz="1700">
                <a:solidFill>
                  <a:srgbClr val="2D2D2D"/>
                </a:solidFill>
                <a:latin typeface="Aptos"/>
              </a:rPr>
              <a:t>Insert a project-team photo or demonstration photo with location permission enabled, if required by your institution.</a:t>
            </a:r>
            <a:endParaRPr lang="en-IN"/>
          </a:p>
          <a:p>
            <a:pPr>
              <a:spcAft>
                <a:spcPts val="700"/>
              </a:spcAft>
              <a:defRPr sz="1700">
                <a:latin typeface="Aptos"/>
              </a:defRPr>
            </a:pPr>
            <a:r>
              <a:rPr b="1" sz="1700">
                <a:solidFill>
                  <a:srgbClr val="1F4E79"/>
                </a:solidFill>
                <a:latin typeface="Aptos"/>
              </a:rPr>
              <a:t>GitHub repository: </a:t>
            </a:r>
            <a:r>
              <a:rPr sz="1700">
                <a:solidFill>
                  <a:srgbClr val="2D2D2D"/>
                </a:solidFill>
                <a:latin typeface="Aptos"/>
              </a:rPr>
              <a:t>Paste your repository URL here: https://github.com/your-username/your-repository</a:t>
            </a:r>
          </a:p>
          <a:p>
            <a:pPr>
              <a:spcAft>
                <a:spcPts val="700"/>
              </a:spcAft>
              <a:defRPr sz="1700">
                <a:latin typeface="Aptos"/>
              </a:defRPr>
            </a:pPr>
            <a:r>
              <a:rPr b="1" sz="1700">
                <a:solidFill>
                  <a:srgbClr val="1F4E79"/>
                </a:solidFill>
                <a:latin typeface="Aptos"/>
              </a:rPr>
              <a:t>Suggested repository contents: </a:t>
            </a:r>
            <a:r>
              <a:rPr sz="1700">
                <a:solidFill>
                  <a:srgbClr val="2D2D2D"/>
                </a:solidFill>
                <a:latin typeface="Aptos"/>
              </a:rPr>
              <a:t>ParkingManagementSystem.java, README.md, sample output screenshots, and project documentation.</a:t>
            </a:r>
          </a:p>
          <a:p>
            <a:pPr>
              <a:spcAft>
                <a:spcPts val="700"/>
              </a:spcAft>
              <a:defRPr sz="1700">
                <a:latin typeface="Aptos"/>
              </a:defRPr>
            </a:pPr>
            <a:r>
              <a:rPr b="1" sz="1700">
                <a:solidFill>
                  <a:srgbClr val="1F4E79"/>
                </a:solidFill>
                <a:latin typeface="Aptos"/>
              </a:rPr>
              <a:t>README should include: </a:t>
            </a:r>
            <a:r>
              <a:rPr sz="1700">
                <a:solidFill>
                  <a:srgbClr val="2D2D2D"/>
                </a:solidFill>
                <a:latin typeface="Aptos"/>
              </a:rPr>
              <a:t>Project overview, features, requirements, compile/run instructions, menu options, billing rules, and sample output.</a:t>
            </a:r>
          </a:p>
          <a:p>
            <a:pPr>
              <a:spcAft>
                <a:spcPts val="700"/>
              </a:spcAft>
              <a:defRPr sz="1700">
                <a:latin typeface="Aptos"/>
              </a:defRPr>
            </a:pPr>
            <a:r>
              <a:rPr b="1" sz="1700">
                <a:solidFill>
                  <a:srgbClr val="1F4E79"/>
                </a:solidFill>
                <a:latin typeface="Aptos"/>
              </a:rPr>
              <a:t>Before submission: </a:t>
            </a:r>
            <a:r>
              <a:rPr sz="1700">
                <a:solidFill>
                  <a:srgbClr val="2D2D2D"/>
                </a:solidFill>
                <a:latin typeface="Aptos"/>
              </a:rPr>
              <a:t>Replace the sample GitHub URL and add your actual geo-tagged photo.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4BAD5-7EFF-4B1E-4929-B42B4691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200"/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CFBAF-EF7C-CF04-7D6A-23B99B45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77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