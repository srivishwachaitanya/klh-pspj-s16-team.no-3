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Neo Tech Bold" charset="1" panose="020B0804030504040204"/>
      <p:regular r:id="rId13"/>
    </p:embeddedFont>
    <p:embeddedFont>
      <p:font typeface="Canva Sans Bold" charset="1" panose="020B0803030501040103"/>
      <p:regular r:id="rId14"/>
    </p:embeddedFont>
    <p:embeddedFont>
      <p:font typeface="Koho"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4921704" y="2393468"/>
            <a:ext cx="10169694" cy="4525901"/>
          </a:xfrm>
          <a:prstGeom prst="rect">
            <a:avLst/>
          </a:prstGeom>
        </p:spPr>
        <p:txBody>
          <a:bodyPr anchor="t" rtlCol="false" tIns="0" lIns="0" bIns="0" rIns="0">
            <a:spAutoFit/>
          </a:bodyPr>
          <a:lstStyle/>
          <a:p>
            <a:pPr algn="l" marL="0" indent="0" lvl="0">
              <a:lnSpc>
                <a:spcPts val="11325"/>
              </a:lnSpc>
            </a:pPr>
            <a:r>
              <a:rPr lang="en-US" b="true" sz="9934">
                <a:solidFill>
                  <a:srgbClr val="005FC2"/>
                </a:solidFill>
                <a:latin typeface="Neo Tech Bold"/>
                <a:ea typeface="Neo Tech Bold"/>
                <a:cs typeface="Neo Tech Bold"/>
                <a:sym typeface="Neo Tech Bold"/>
              </a:rPr>
              <a:t>MULTI-LEVEL PARKING SYSTEM</a:t>
            </a:r>
          </a:p>
        </p:txBody>
      </p:sp>
      <p:sp>
        <p:nvSpPr>
          <p:cNvPr name="Freeform 3" id="3"/>
          <p:cNvSpPr/>
          <p:nvPr/>
        </p:nvSpPr>
        <p:spPr>
          <a:xfrm flipH="true" flipV="false" rot="0">
            <a:off x="13499617" y="-3375063"/>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25238" y="-129416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598420" y="7793846"/>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512229" y="-2576960"/>
            <a:ext cx="3234671" cy="6405289"/>
          </a:xfrm>
          <a:custGeom>
            <a:avLst/>
            <a:gdLst/>
            <a:ahLst/>
            <a:cxnLst/>
            <a:rect r="r" b="b" t="t" l="l"/>
            <a:pathLst>
              <a:path h="6405289" w="3234671">
                <a:moveTo>
                  <a:pt x="0" y="0"/>
                </a:moveTo>
                <a:lnTo>
                  <a:pt x="3234671" y="0"/>
                </a:lnTo>
                <a:lnTo>
                  <a:pt x="3234671" y="6405289"/>
                </a:lnTo>
                <a:lnTo>
                  <a:pt x="0" y="64052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408433" y="1152198"/>
            <a:ext cx="6061948" cy="1276352"/>
          </a:xfrm>
          <a:prstGeom prst="rect">
            <a:avLst/>
          </a:prstGeom>
        </p:spPr>
        <p:txBody>
          <a:bodyPr anchor="t" rtlCol="false" tIns="0" lIns="0" bIns="0" rIns="0">
            <a:spAutoFit/>
          </a:bodyPr>
          <a:lstStyle/>
          <a:p>
            <a:pPr algn="ctr">
              <a:lnSpc>
                <a:spcPts val="10499"/>
              </a:lnSpc>
            </a:pPr>
            <a:r>
              <a:rPr lang="en-US" b="true" sz="7499">
                <a:solidFill>
                  <a:srgbClr val="5170FF"/>
                </a:solidFill>
                <a:latin typeface="Canva Sans Bold"/>
                <a:ea typeface="Canva Sans Bold"/>
                <a:cs typeface="Canva Sans Bold"/>
                <a:sym typeface="Canva Sans Bold"/>
              </a:rPr>
              <a:t>Project Team</a:t>
            </a:r>
          </a:p>
        </p:txBody>
      </p:sp>
      <p:sp>
        <p:nvSpPr>
          <p:cNvPr name="TextBox 5" id="5"/>
          <p:cNvSpPr txBox="true"/>
          <p:nvPr/>
        </p:nvSpPr>
        <p:spPr>
          <a:xfrm rot="0">
            <a:off x="5263803" y="3787541"/>
            <a:ext cx="10531793" cy="2645244"/>
          </a:xfrm>
          <a:prstGeom prst="rect">
            <a:avLst/>
          </a:prstGeom>
        </p:spPr>
        <p:txBody>
          <a:bodyPr anchor="t" rtlCol="false" tIns="0" lIns="0" bIns="0" rIns="0">
            <a:spAutoFit/>
          </a:bodyPr>
          <a:lstStyle/>
          <a:p>
            <a:pPr algn="l">
              <a:lnSpc>
                <a:spcPts val="5010"/>
              </a:lnSpc>
              <a:spcBef>
                <a:spcPct val="0"/>
              </a:spcBef>
            </a:pPr>
            <a:r>
              <a:rPr lang="en-US" b="true" sz="4394">
                <a:solidFill>
                  <a:srgbClr val="0097B2"/>
                </a:solidFill>
                <a:latin typeface="Neo Tech Bold"/>
                <a:ea typeface="Neo Tech Bold"/>
                <a:cs typeface="Neo Tech Bold"/>
                <a:sym typeface="Neo Tech Bold"/>
              </a:rPr>
              <a:t>PRESENTED BY:</a:t>
            </a:r>
          </a:p>
          <a:p>
            <a:pPr algn="l">
              <a:lnSpc>
                <a:spcPts val="5010"/>
              </a:lnSpc>
              <a:spcBef>
                <a:spcPct val="0"/>
              </a:spcBef>
            </a:pPr>
            <a:r>
              <a:rPr lang="en-US" b="true" sz="4394">
                <a:solidFill>
                  <a:srgbClr val="0097B2"/>
                </a:solidFill>
                <a:latin typeface="Neo Tech Bold"/>
                <a:ea typeface="Neo Tech Bold"/>
                <a:cs typeface="Neo Tech Bold"/>
                <a:sym typeface="Neo Tech Bold"/>
              </a:rPr>
              <a:t>SRI VISHWA CHAITANYA – 2620090036</a:t>
            </a:r>
          </a:p>
          <a:p>
            <a:pPr algn="l">
              <a:lnSpc>
                <a:spcPts val="5010"/>
              </a:lnSpc>
              <a:spcBef>
                <a:spcPct val="0"/>
              </a:spcBef>
            </a:pPr>
            <a:r>
              <a:rPr lang="en-US" b="true" sz="4394">
                <a:solidFill>
                  <a:srgbClr val="0097B2"/>
                </a:solidFill>
                <a:latin typeface="Neo Tech Bold"/>
                <a:ea typeface="Neo Tech Bold"/>
                <a:cs typeface="Neo Tech Bold"/>
                <a:sym typeface="Neo Tech Bold"/>
              </a:rPr>
              <a:t>KAUSHAL - 2620030159</a:t>
            </a:r>
          </a:p>
          <a:p>
            <a:pPr algn="l">
              <a:lnSpc>
                <a:spcPts val="5010"/>
              </a:lnSpc>
              <a:spcBef>
                <a:spcPct val="0"/>
              </a:spcBef>
            </a:pPr>
            <a:r>
              <a:rPr lang="en-US" b="true" sz="4394">
                <a:solidFill>
                  <a:srgbClr val="0097B2"/>
                </a:solidFill>
                <a:latin typeface="Neo Tech Bold"/>
                <a:ea typeface="Neo Tech Bold"/>
                <a:cs typeface="Neo Tech Bold"/>
                <a:sym typeface="Neo Tech Bold"/>
              </a:rPr>
              <a:t>NEELAM SREEKAR - 2620030478</a:t>
            </a:r>
          </a:p>
        </p:txBody>
      </p:sp>
      <p:sp>
        <p:nvSpPr>
          <p:cNvPr name="Freeform 6" id="6"/>
          <p:cNvSpPr/>
          <p:nvPr/>
        </p:nvSpPr>
        <p:spPr>
          <a:xfrm flipH="false" flipV="false" rot="0">
            <a:off x="11598420" y="7793846"/>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6201995" y="1987884"/>
            <a:ext cx="10894849" cy="1306027"/>
          </a:xfrm>
          <a:prstGeom prst="rect">
            <a:avLst/>
          </a:prstGeom>
        </p:spPr>
        <p:txBody>
          <a:bodyPr anchor="t" rtlCol="false" tIns="0" lIns="0" bIns="0" rIns="0">
            <a:spAutoFit/>
          </a:bodyPr>
          <a:lstStyle/>
          <a:p>
            <a:pPr algn="l" marL="0" indent="0" lvl="0">
              <a:lnSpc>
                <a:spcPts val="8999"/>
              </a:lnSpc>
            </a:pPr>
            <a:r>
              <a:rPr lang="en-US" b="true" sz="7894">
                <a:gradFill>
                  <a:gsLst>
                    <a:gs pos="0">
                      <a:srgbClr val="5DE0E6">
                        <a:alpha val="100000"/>
                      </a:srgbClr>
                    </a:gs>
                    <a:gs pos="100000">
                      <a:srgbClr val="004AAD">
                        <a:alpha val="100000"/>
                      </a:srgbClr>
                    </a:gs>
                  </a:gsLst>
                  <a:lin ang="0"/>
                </a:gradFill>
                <a:latin typeface="Neo Tech Bold"/>
                <a:ea typeface="Neo Tech Bold"/>
                <a:cs typeface="Neo Tech Bold"/>
                <a:sym typeface="Neo Tech Bold"/>
              </a:rPr>
              <a:t>PROJECT ABSTRACT</a:t>
            </a:r>
          </a:p>
        </p:txBody>
      </p:sp>
      <p:sp>
        <p:nvSpPr>
          <p:cNvPr name="TextBox 3" id="3"/>
          <p:cNvSpPr txBox="true"/>
          <p:nvPr/>
        </p:nvSpPr>
        <p:spPr>
          <a:xfrm rot="0">
            <a:off x="5614835" y="3860386"/>
            <a:ext cx="10894849" cy="5302815"/>
          </a:xfrm>
          <a:prstGeom prst="rect">
            <a:avLst/>
          </a:prstGeom>
        </p:spPr>
        <p:txBody>
          <a:bodyPr anchor="t" rtlCol="false" tIns="0" lIns="0" bIns="0" rIns="0">
            <a:spAutoFit/>
          </a:bodyPr>
          <a:lstStyle/>
          <a:p>
            <a:pPr algn="l">
              <a:lnSpc>
                <a:spcPts val="3917"/>
              </a:lnSpc>
            </a:pPr>
            <a:r>
              <a:rPr lang="en-US" sz="3185" spc="-19">
                <a:gradFill>
                  <a:gsLst>
                    <a:gs pos="0">
                      <a:srgbClr val="8C52FF">
                        <a:alpha val="100000"/>
                      </a:srgbClr>
                    </a:gs>
                    <a:gs pos="100000">
                      <a:srgbClr val="5CE1E6">
                        <a:alpha val="100000"/>
                      </a:srgbClr>
                    </a:gs>
                  </a:gsLst>
                  <a:lin ang="0"/>
                </a:gradFill>
                <a:latin typeface="Koho"/>
                <a:ea typeface="Koho"/>
                <a:cs typeface="Koho"/>
                <a:sym typeface="Koho"/>
              </a:rPr>
              <a:t>The</a:t>
            </a:r>
            <a:r>
              <a:rPr lang="en-US" sz="3185" spc="-19">
                <a:gradFill>
                  <a:gsLst>
                    <a:gs pos="0">
                      <a:srgbClr val="8C52FF">
                        <a:alpha val="100000"/>
                      </a:srgbClr>
                    </a:gs>
                    <a:gs pos="100000">
                      <a:srgbClr val="5CE1E6">
                        <a:alpha val="100000"/>
                      </a:srgbClr>
                    </a:gs>
                  </a:gsLst>
                  <a:lin ang="0"/>
                </a:gradFill>
                <a:latin typeface="Koho"/>
                <a:ea typeface="Koho"/>
                <a:cs typeface="Koho"/>
                <a:sym typeface="Koho"/>
              </a:rPr>
              <a:t> Multi-Level Parking Management System is a Java application that helps in managing cars in a multi-level parking system. The user can choose any vacant level and spot, the parking time, and then make payment according to the car type and parking time.</a:t>
            </a:r>
          </a:p>
          <a:p>
            <a:pPr algn="l">
              <a:lnSpc>
                <a:spcPts val="2810"/>
              </a:lnSpc>
            </a:pPr>
          </a:p>
          <a:p>
            <a:pPr algn="l">
              <a:lnSpc>
                <a:spcPts val="3917"/>
              </a:lnSpc>
            </a:pPr>
            <a:r>
              <a:rPr lang="en-US" sz="3185" spc="-19">
                <a:gradFill>
                  <a:gsLst>
                    <a:gs pos="0">
                      <a:srgbClr val="8C52FF">
                        <a:alpha val="100000"/>
                      </a:srgbClr>
                    </a:gs>
                    <a:gs pos="100000">
                      <a:srgbClr val="5CE1E6">
                        <a:alpha val="100000"/>
                      </a:srgbClr>
                    </a:gs>
                  </a:gsLst>
                  <a:lin ang="0"/>
                </a:gradFill>
                <a:latin typeface="Koho"/>
                <a:ea typeface="Koho"/>
                <a:cs typeface="Koho"/>
                <a:sym typeface="Koho"/>
              </a:rPr>
              <a:t>The features in the system include entry, exit, search, charging, and status display for parking. The application does not allow the choice of already occupied spots and keeps all the information regarding parking of vehicles. This project showcases the use of various Java programming concepts.</a:t>
            </a:r>
          </a:p>
        </p:txBody>
      </p:sp>
      <p:sp>
        <p:nvSpPr>
          <p:cNvPr name="Freeform 4" id="4"/>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10107" y="-3511952"/>
            <a:ext cx="3133645" cy="6205237"/>
          </a:xfrm>
          <a:custGeom>
            <a:avLst/>
            <a:gdLst/>
            <a:ahLst/>
            <a:cxnLst/>
            <a:rect r="r" b="b" t="t" l="l"/>
            <a:pathLst>
              <a:path h="6205237" w="3133645">
                <a:moveTo>
                  <a:pt x="0" y="0"/>
                </a:moveTo>
                <a:lnTo>
                  <a:pt x="3133645" y="0"/>
                </a:lnTo>
                <a:lnTo>
                  <a:pt x="3133645" y="6205237"/>
                </a:lnTo>
                <a:lnTo>
                  <a:pt x="0" y="62052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151067">
            <a:off x="-1812924" y="4400378"/>
            <a:ext cx="7161170" cy="10230243"/>
          </a:xfrm>
          <a:custGeom>
            <a:avLst/>
            <a:gdLst/>
            <a:ahLst/>
            <a:cxnLst/>
            <a:rect r="r" b="b" t="t" l="l"/>
            <a:pathLst>
              <a:path h="10230243" w="7161170">
                <a:moveTo>
                  <a:pt x="0" y="10230242"/>
                </a:moveTo>
                <a:lnTo>
                  <a:pt x="7161170" y="10230242"/>
                </a:lnTo>
                <a:lnTo>
                  <a:pt x="7161170" y="0"/>
                </a:lnTo>
                <a:lnTo>
                  <a:pt x="0" y="0"/>
                </a:lnTo>
                <a:lnTo>
                  <a:pt x="0" y="10230242"/>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432C7">
                <a:alpha val="100000"/>
              </a:srgbClr>
            </a:gs>
          </a:gsLst>
          <a:lin ang="16200000"/>
        </a:gradFill>
      </p:bgPr>
    </p:bg>
    <p:spTree>
      <p:nvGrpSpPr>
        <p:cNvPr id="1" name=""/>
        <p:cNvGrpSpPr/>
        <p:nvPr/>
      </p:nvGrpSpPr>
      <p:grpSpPr>
        <a:xfrm>
          <a:off x="0" y="0"/>
          <a:ext cx="0" cy="0"/>
          <a:chOff x="0" y="0"/>
          <a:chExt cx="0" cy="0"/>
        </a:xfrm>
      </p:grpSpPr>
      <p:sp>
        <p:nvSpPr>
          <p:cNvPr name="Freeform 2" id="2"/>
          <p:cNvSpPr/>
          <p:nvPr/>
        </p:nvSpPr>
        <p:spPr>
          <a:xfrm flipH="true" flipV="false" rot="0">
            <a:off x="14735604" y="-4054286"/>
            <a:ext cx="6438450" cy="9197786"/>
          </a:xfrm>
          <a:custGeom>
            <a:avLst/>
            <a:gdLst/>
            <a:ahLst/>
            <a:cxnLst/>
            <a:rect r="r" b="b" t="t" l="l"/>
            <a:pathLst>
              <a:path h="9197786" w="6438450">
                <a:moveTo>
                  <a:pt x="6438450" y="0"/>
                </a:moveTo>
                <a:lnTo>
                  <a:pt x="0" y="0"/>
                </a:lnTo>
                <a:lnTo>
                  <a:pt x="0" y="9197786"/>
                </a:lnTo>
                <a:lnTo>
                  <a:pt x="6438450" y="9197786"/>
                </a:lnTo>
                <a:lnTo>
                  <a:pt x="643845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51067">
            <a:off x="-2551885" y="4635242"/>
            <a:ext cx="7161170" cy="10230243"/>
          </a:xfrm>
          <a:custGeom>
            <a:avLst/>
            <a:gdLst/>
            <a:ahLst/>
            <a:cxnLst/>
            <a:rect r="r" b="b" t="t" l="l"/>
            <a:pathLst>
              <a:path h="10230243" w="7161170">
                <a:moveTo>
                  <a:pt x="0" y="10230243"/>
                </a:moveTo>
                <a:lnTo>
                  <a:pt x="7161170" y="10230243"/>
                </a:lnTo>
                <a:lnTo>
                  <a:pt x="7161170" y="0"/>
                </a:lnTo>
                <a:lnTo>
                  <a:pt x="0" y="0"/>
                </a:lnTo>
                <a:lnTo>
                  <a:pt x="0" y="102302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223948" y="-1294162"/>
            <a:ext cx="7793442" cy="4080930"/>
          </a:xfrm>
          <a:custGeom>
            <a:avLst/>
            <a:gdLst/>
            <a:ahLst/>
            <a:cxnLst/>
            <a:rect r="r" b="b" t="t" l="l"/>
            <a:pathLst>
              <a:path h="4080930" w="7793442">
                <a:moveTo>
                  <a:pt x="0" y="0"/>
                </a:moveTo>
                <a:lnTo>
                  <a:pt x="7793443" y="0"/>
                </a:lnTo>
                <a:lnTo>
                  <a:pt x="7793443" y="4080930"/>
                </a:lnTo>
                <a:lnTo>
                  <a:pt x="0" y="4080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279526" y="7911278"/>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4316418" y="2386657"/>
            <a:ext cx="8175784" cy="1005205"/>
          </a:xfrm>
          <a:prstGeom prst="rect">
            <a:avLst/>
          </a:prstGeom>
        </p:spPr>
        <p:txBody>
          <a:bodyPr anchor="t" rtlCol="false" tIns="0" lIns="0" bIns="0" rIns="0">
            <a:spAutoFit/>
          </a:bodyPr>
          <a:lstStyle/>
          <a:p>
            <a:pPr algn="just">
              <a:lnSpc>
                <a:spcPts val="8119"/>
              </a:lnSpc>
            </a:pPr>
            <a:r>
              <a:rPr lang="en-US" b="true" sz="5799">
                <a:solidFill>
                  <a:srgbClr val="38B6FF"/>
                </a:solidFill>
                <a:latin typeface="Canva Sans Bold"/>
                <a:ea typeface="Canva Sans Bold"/>
                <a:cs typeface="Canva Sans Bold"/>
                <a:sym typeface="Canva Sans Bold"/>
              </a:rPr>
              <a:t> Topics used from CO-1</a:t>
            </a:r>
          </a:p>
        </p:txBody>
      </p:sp>
      <p:sp>
        <p:nvSpPr>
          <p:cNvPr name="TextBox 7" id="7"/>
          <p:cNvSpPr txBox="true"/>
          <p:nvPr/>
        </p:nvSpPr>
        <p:spPr>
          <a:xfrm rot="0">
            <a:off x="3270559" y="3701183"/>
            <a:ext cx="10419187" cy="2943860"/>
          </a:xfrm>
          <a:prstGeom prst="rect">
            <a:avLst/>
          </a:prstGeom>
        </p:spPr>
        <p:txBody>
          <a:bodyPr anchor="t" rtlCol="false" tIns="0" lIns="0" bIns="0" rIns="0">
            <a:spAutoFit/>
          </a:bodyPr>
          <a:lstStyle/>
          <a:p>
            <a:pPr algn="l" marL="1209037" indent="-604519" lvl="1">
              <a:lnSpc>
                <a:spcPts val="7839"/>
              </a:lnSpc>
              <a:buFont typeface="Arial"/>
              <a:buChar char="•"/>
            </a:pPr>
            <a:r>
              <a:rPr lang="en-US" b="true" sz="5599">
                <a:solidFill>
                  <a:srgbClr val="D9D9D9"/>
                </a:solidFill>
                <a:latin typeface="Canva Sans Bold"/>
                <a:ea typeface="Canva Sans Bold"/>
                <a:cs typeface="Canva Sans Bold"/>
                <a:sym typeface="Canva Sans Bold"/>
              </a:rPr>
              <a:t>Variables and Data Types </a:t>
            </a:r>
          </a:p>
          <a:p>
            <a:pPr algn="l" marL="1209037" indent="-604519" lvl="1">
              <a:lnSpc>
                <a:spcPts val="7839"/>
              </a:lnSpc>
              <a:buFont typeface="Arial"/>
              <a:buChar char="•"/>
            </a:pPr>
            <a:r>
              <a:rPr lang="en-US" b="true" sz="5599">
                <a:solidFill>
                  <a:srgbClr val="D9D9D9"/>
                </a:solidFill>
                <a:latin typeface="Canva Sans Bold"/>
                <a:ea typeface="Canva Sans Bold"/>
                <a:cs typeface="Canva Sans Bold"/>
                <a:sym typeface="Canva Sans Bold"/>
              </a:rPr>
              <a:t>Scanner Class </a:t>
            </a:r>
          </a:p>
          <a:p>
            <a:pPr algn="l" marL="1209037" indent="-604519" lvl="1">
              <a:lnSpc>
                <a:spcPts val="7839"/>
              </a:lnSpc>
              <a:buFont typeface="Arial"/>
              <a:buChar char="•"/>
            </a:pPr>
            <a:r>
              <a:rPr lang="en-US" b="true" sz="5599">
                <a:solidFill>
                  <a:srgbClr val="D9D9D9"/>
                </a:solidFill>
                <a:latin typeface="Canva Sans Bold"/>
                <a:ea typeface="Canva Sans Bold"/>
                <a:cs typeface="Canva Sans Bold"/>
                <a:sym typeface="Canva Sans Bold"/>
              </a:rPr>
              <a:t>Arithmetic Operators </a:t>
            </a:r>
          </a:p>
        </p:txBody>
      </p:sp>
      <p:sp>
        <p:nvSpPr>
          <p:cNvPr name="AutoShape 8" id="8"/>
          <p:cNvSpPr/>
          <p:nvPr/>
        </p:nvSpPr>
        <p:spPr>
          <a:xfrm>
            <a:off x="4316418" y="3605933"/>
            <a:ext cx="9373328" cy="0"/>
          </a:xfrm>
          <a:prstGeom prst="line">
            <a:avLst/>
          </a:prstGeom>
          <a:ln cap="flat" w="38100">
            <a:solidFill>
              <a:srgbClr val="FFFFFF"/>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432C7">
                <a:alpha val="100000"/>
              </a:srgbClr>
            </a:gs>
          </a:gsLst>
          <a:lin ang="16200000"/>
        </a:gradFill>
      </p:bgPr>
    </p:bg>
    <p:spTree>
      <p:nvGrpSpPr>
        <p:cNvPr id="1" name=""/>
        <p:cNvGrpSpPr/>
        <p:nvPr/>
      </p:nvGrpSpPr>
      <p:grpSpPr>
        <a:xfrm>
          <a:off x="0" y="0"/>
          <a:ext cx="0" cy="0"/>
          <a:chOff x="0" y="0"/>
          <a:chExt cx="0" cy="0"/>
        </a:xfrm>
      </p:grpSpPr>
      <p:sp>
        <p:nvSpPr>
          <p:cNvPr name="Freeform 2" id="2"/>
          <p:cNvSpPr/>
          <p:nvPr/>
        </p:nvSpPr>
        <p:spPr>
          <a:xfrm flipH="false" flipV="true" rot="0">
            <a:off x="0" y="-3186383"/>
            <a:ext cx="18326449" cy="8430167"/>
          </a:xfrm>
          <a:custGeom>
            <a:avLst/>
            <a:gdLst/>
            <a:ahLst/>
            <a:cxnLst/>
            <a:rect r="r" b="b" t="t" l="l"/>
            <a:pathLst>
              <a:path h="8430167" w="18326449">
                <a:moveTo>
                  <a:pt x="0" y="8430166"/>
                </a:moveTo>
                <a:lnTo>
                  <a:pt x="18326449" y="8430166"/>
                </a:lnTo>
                <a:lnTo>
                  <a:pt x="18326449" y="0"/>
                </a:lnTo>
                <a:lnTo>
                  <a:pt x="0" y="0"/>
                </a:lnTo>
                <a:lnTo>
                  <a:pt x="0" y="843016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198986" y="2574549"/>
            <a:ext cx="8222218" cy="1005205"/>
          </a:xfrm>
          <a:prstGeom prst="rect">
            <a:avLst/>
          </a:prstGeom>
        </p:spPr>
        <p:txBody>
          <a:bodyPr anchor="t" rtlCol="false" tIns="0" lIns="0" bIns="0" rIns="0">
            <a:spAutoFit/>
          </a:bodyPr>
          <a:lstStyle/>
          <a:p>
            <a:pPr algn="just">
              <a:lnSpc>
                <a:spcPts val="8119"/>
              </a:lnSpc>
            </a:pPr>
            <a:r>
              <a:rPr lang="en-US" b="true" sz="5799">
                <a:solidFill>
                  <a:srgbClr val="38B6FF"/>
                </a:solidFill>
                <a:latin typeface="Canva Sans Bold"/>
                <a:ea typeface="Canva Sans Bold"/>
                <a:cs typeface="Canva Sans Bold"/>
                <a:sym typeface="Canva Sans Bold"/>
              </a:rPr>
              <a:t> Topics used from CO-2</a:t>
            </a:r>
          </a:p>
        </p:txBody>
      </p:sp>
      <p:sp>
        <p:nvSpPr>
          <p:cNvPr name="AutoShape 4" id="4"/>
          <p:cNvSpPr/>
          <p:nvPr/>
        </p:nvSpPr>
        <p:spPr>
          <a:xfrm>
            <a:off x="4457336" y="4075661"/>
            <a:ext cx="9373328" cy="0"/>
          </a:xfrm>
          <a:prstGeom prst="line">
            <a:avLst/>
          </a:prstGeom>
          <a:ln cap="flat" w="38100">
            <a:solidFill>
              <a:srgbClr val="FFFFFF"/>
            </a:solidFill>
            <a:prstDash val="solid"/>
            <a:headEnd type="none" len="sm" w="sm"/>
            <a:tailEnd type="none" len="sm" w="sm"/>
          </a:ln>
        </p:spPr>
      </p:sp>
      <p:sp>
        <p:nvSpPr>
          <p:cNvPr name="TextBox 5" id="5"/>
          <p:cNvSpPr txBox="true"/>
          <p:nvPr/>
        </p:nvSpPr>
        <p:spPr>
          <a:xfrm rot="0">
            <a:off x="3920216" y="4270011"/>
            <a:ext cx="8195939" cy="3667824"/>
          </a:xfrm>
          <a:prstGeom prst="rect">
            <a:avLst/>
          </a:prstGeom>
        </p:spPr>
        <p:txBody>
          <a:bodyPr anchor="t" rtlCol="false" tIns="0" lIns="0" bIns="0" rIns="0">
            <a:spAutoFit/>
          </a:bodyPr>
          <a:lstStyle/>
          <a:p>
            <a:pPr algn="l" marL="1127534" indent="-563767" lvl="1">
              <a:lnSpc>
                <a:spcPts val="7311"/>
              </a:lnSpc>
              <a:buFont typeface="Arial"/>
              <a:buChar char="•"/>
            </a:pPr>
            <a:r>
              <a:rPr lang="en-US" b="true" sz="5222">
                <a:solidFill>
                  <a:srgbClr val="D9D9D9"/>
                </a:solidFill>
                <a:latin typeface="Canva Sans Bold"/>
                <a:ea typeface="Canva Sans Bold"/>
                <a:cs typeface="Canva Sans Bold"/>
                <a:sym typeface="Canva Sans Bold"/>
              </a:rPr>
              <a:t>If-Else Statements</a:t>
            </a:r>
          </a:p>
          <a:p>
            <a:pPr algn="l" marL="1127534" indent="-563767" lvl="1">
              <a:lnSpc>
                <a:spcPts val="7311"/>
              </a:lnSpc>
              <a:buFont typeface="Arial"/>
              <a:buChar char="•"/>
            </a:pPr>
            <a:r>
              <a:rPr lang="en-US" b="true" sz="5222">
                <a:solidFill>
                  <a:srgbClr val="D9D9D9"/>
                </a:solidFill>
                <a:latin typeface="Canva Sans Bold"/>
                <a:ea typeface="Canva Sans Bold"/>
                <a:cs typeface="Canva Sans Bold"/>
                <a:sym typeface="Canva Sans Bold"/>
              </a:rPr>
              <a:t>Switch Statement </a:t>
            </a:r>
          </a:p>
          <a:p>
            <a:pPr algn="l" marL="1127534" indent="-563767" lvl="1">
              <a:lnSpc>
                <a:spcPts val="7311"/>
              </a:lnSpc>
              <a:buFont typeface="Arial"/>
              <a:buChar char="•"/>
            </a:pPr>
            <a:r>
              <a:rPr lang="en-US" b="true" sz="5222">
                <a:solidFill>
                  <a:srgbClr val="D9D9D9"/>
                </a:solidFill>
                <a:latin typeface="Canva Sans Bold"/>
                <a:ea typeface="Canva Sans Bold"/>
                <a:cs typeface="Canva Sans Bold"/>
                <a:sym typeface="Canva Sans Bold"/>
              </a:rPr>
              <a:t>For Loop </a:t>
            </a:r>
          </a:p>
          <a:p>
            <a:pPr algn="l" marL="1127534" indent="-563767" lvl="1">
              <a:lnSpc>
                <a:spcPts val="7311"/>
              </a:lnSpc>
              <a:buFont typeface="Arial"/>
              <a:buChar char="•"/>
            </a:pPr>
            <a:r>
              <a:rPr lang="en-US" b="true" sz="5222">
                <a:solidFill>
                  <a:srgbClr val="D9D9D9"/>
                </a:solidFill>
                <a:latin typeface="Canva Sans Bold"/>
                <a:ea typeface="Canva Sans Bold"/>
                <a:cs typeface="Canva Sans Bold"/>
                <a:sym typeface="Canva Sans Bold"/>
              </a:rPr>
              <a:t>While Loop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432C7">
                <a:alpha val="100000"/>
              </a:srgbClr>
            </a:gs>
          </a:gsLst>
          <a:lin ang="16200000"/>
        </a:gradFill>
      </p:bgPr>
    </p:bg>
    <p:spTree>
      <p:nvGrpSpPr>
        <p:cNvPr id="1" name=""/>
        <p:cNvGrpSpPr/>
        <p:nvPr/>
      </p:nvGrpSpPr>
      <p:grpSpPr>
        <a:xfrm>
          <a:off x="0" y="0"/>
          <a:ext cx="0" cy="0"/>
          <a:chOff x="0" y="0"/>
          <a:chExt cx="0" cy="0"/>
        </a:xfrm>
      </p:grpSpPr>
      <p:sp>
        <p:nvSpPr>
          <p:cNvPr name="Freeform 2" id="2"/>
          <p:cNvSpPr/>
          <p:nvPr/>
        </p:nvSpPr>
        <p:spPr>
          <a:xfrm flipH="true" flipV="false" rot="0">
            <a:off x="13499617" y="-3375063"/>
            <a:ext cx="7161170" cy="10230243"/>
          </a:xfrm>
          <a:custGeom>
            <a:avLst/>
            <a:gdLst/>
            <a:ahLst/>
            <a:cxnLst/>
            <a:rect r="r" b="b" t="t" l="l"/>
            <a:pathLst>
              <a:path h="10230243" w="7161170">
                <a:moveTo>
                  <a:pt x="7161170" y="0"/>
                </a:moveTo>
                <a:lnTo>
                  <a:pt x="0" y="0"/>
                </a:lnTo>
                <a:lnTo>
                  <a:pt x="0" y="10230242"/>
                </a:lnTo>
                <a:lnTo>
                  <a:pt x="7161170" y="10230242"/>
                </a:lnTo>
                <a:lnTo>
                  <a:pt x="71611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25238" y="-1294162"/>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198986" y="2574549"/>
            <a:ext cx="8246983" cy="1005205"/>
          </a:xfrm>
          <a:prstGeom prst="rect">
            <a:avLst/>
          </a:prstGeom>
        </p:spPr>
        <p:txBody>
          <a:bodyPr anchor="t" rtlCol="false" tIns="0" lIns="0" bIns="0" rIns="0">
            <a:spAutoFit/>
          </a:bodyPr>
          <a:lstStyle/>
          <a:p>
            <a:pPr algn="just">
              <a:lnSpc>
                <a:spcPts val="8119"/>
              </a:lnSpc>
            </a:pPr>
            <a:r>
              <a:rPr lang="en-US" b="true" sz="5799">
                <a:solidFill>
                  <a:srgbClr val="38B6FF"/>
                </a:solidFill>
                <a:latin typeface="Canva Sans Bold"/>
                <a:ea typeface="Canva Sans Bold"/>
                <a:cs typeface="Canva Sans Bold"/>
                <a:sym typeface="Canva Sans Bold"/>
              </a:rPr>
              <a:t> Topics used from CO-3</a:t>
            </a:r>
          </a:p>
        </p:txBody>
      </p:sp>
      <p:sp>
        <p:nvSpPr>
          <p:cNvPr name="AutoShape 5" id="5"/>
          <p:cNvSpPr/>
          <p:nvPr/>
        </p:nvSpPr>
        <p:spPr>
          <a:xfrm>
            <a:off x="4457336" y="4075661"/>
            <a:ext cx="9373328" cy="0"/>
          </a:xfrm>
          <a:prstGeom prst="line">
            <a:avLst/>
          </a:prstGeom>
          <a:ln cap="flat" w="38100">
            <a:solidFill>
              <a:srgbClr val="FFFFFF"/>
            </a:solidFill>
            <a:prstDash val="solid"/>
            <a:headEnd type="none" len="sm" w="sm"/>
            <a:tailEnd type="none" len="sm" w="sm"/>
          </a:ln>
        </p:spPr>
      </p:sp>
      <p:sp>
        <p:nvSpPr>
          <p:cNvPr name="TextBox 6" id="6"/>
          <p:cNvSpPr txBox="true"/>
          <p:nvPr/>
        </p:nvSpPr>
        <p:spPr>
          <a:xfrm rot="0">
            <a:off x="3817456" y="4475711"/>
            <a:ext cx="5175004" cy="1828218"/>
          </a:xfrm>
          <a:prstGeom prst="rect">
            <a:avLst/>
          </a:prstGeom>
        </p:spPr>
        <p:txBody>
          <a:bodyPr anchor="t" rtlCol="false" tIns="0" lIns="0" bIns="0" rIns="0">
            <a:spAutoFit/>
          </a:bodyPr>
          <a:lstStyle/>
          <a:p>
            <a:pPr algn="l" marL="1138419" indent="-569209" lvl="1">
              <a:lnSpc>
                <a:spcPts val="7382"/>
              </a:lnSpc>
              <a:buFont typeface="Arial"/>
              <a:buChar char="•"/>
            </a:pPr>
            <a:r>
              <a:rPr lang="en-US" b="true" sz="5272">
                <a:solidFill>
                  <a:srgbClr val="D9D9D9"/>
                </a:solidFill>
                <a:latin typeface="Canva Sans Bold"/>
                <a:ea typeface="Canva Sans Bold"/>
                <a:cs typeface="Canva Sans Bold"/>
                <a:sym typeface="Canva Sans Bold"/>
              </a:rPr>
              <a:t>Methods</a:t>
            </a:r>
          </a:p>
          <a:p>
            <a:pPr algn="l" marL="1138419" indent="-569209" lvl="1">
              <a:lnSpc>
                <a:spcPts val="7382"/>
              </a:lnSpc>
              <a:buFont typeface="Arial"/>
              <a:buChar char="•"/>
            </a:pPr>
            <a:r>
              <a:rPr lang="en-US" b="true" sz="5272">
                <a:solidFill>
                  <a:srgbClr val="D9D9D9"/>
                </a:solidFill>
                <a:latin typeface="Canva Sans Bold"/>
                <a:ea typeface="Canva Sans Bold"/>
                <a:cs typeface="Canva Sans Bold"/>
                <a:sym typeface="Canva Sans Bold"/>
              </a:rPr>
              <a:t>Arrays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0">
            <a:off x="-38449" y="-4360705"/>
            <a:ext cx="18326449" cy="8430167"/>
          </a:xfrm>
          <a:custGeom>
            <a:avLst/>
            <a:gdLst/>
            <a:ahLst/>
            <a:cxnLst/>
            <a:rect r="r" b="b" t="t" l="l"/>
            <a:pathLst>
              <a:path h="8430167" w="18326449">
                <a:moveTo>
                  <a:pt x="0" y="8430167"/>
                </a:moveTo>
                <a:lnTo>
                  <a:pt x="18326449" y="8430167"/>
                </a:lnTo>
                <a:lnTo>
                  <a:pt x="18326449" y="0"/>
                </a:lnTo>
                <a:lnTo>
                  <a:pt x="0" y="0"/>
                </a:lnTo>
                <a:lnTo>
                  <a:pt x="0" y="84301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51067">
            <a:off x="-3316055" y="5970417"/>
            <a:ext cx="7161170" cy="10230243"/>
          </a:xfrm>
          <a:custGeom>
            <a:avLst/>
            <a:gdLst/>
            <a:ahLst/>
            <a:cxnLst/>
            <a:rect r="r" b="b" t="t" l="l"/>
            <a:pathLst>
              <a:path h="10230243" w="7161170">
                <a:moveTo>
                  <a:pt x="0" y="10230243"/>
                </a:moveTo>
                <a:lnTo>
                  <a:pt x="7161170" y="10230243"/>
                </a:lnTo>
                <a:lnTo>
                  <a:pt x="7161170" y="0"/>
                </a:lnTo>
                <a:lnTo>
                  <a:pt x="0" y="0"/>
                </a:lnTo>
                <a:lnTo>
                  <a:pt x="0" y="102302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598420" y="7793846"/>
            <a:ext cx="7793442" cy="4080930"/>
          </a:xfrm>
          <a:custGeom>
            <a:avLst/>
            <a:gdLst/>
            <a:ahLst/>
            <a:cxnLst/>
            <a:rect r="r" b="b" t="t" l="l"/>
            <a:pathLst>
              <a:path h="4080930" w="7793442">
                <a:moveTo>
                  <a:pt x="0" y="0"/>
                </a:moveTo>
                <a:lnTo>
                  <a:pt x="7793442" y="0"/>
                </a:lnTo>
                <a:lnTo>
                  <a:pt x="7793442" y="4080930"/>
                </a:lnTo>
                <a:lnTo>
                  <a:pt x="0" y="4080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519104" y="3999602"/>
            <a:ext cx="10534423" cy="2049671"/>
          </a:xfrm>
          <a:prstGeom prst="rect">
            <a:avLst/>
          </a:prstGeom>
        </p:spPr>
        <p:txBody>
          <a:bodyPr anchor="t" rtlCol="false" tIns="0" lIns="0" bIns="0" rIns="0">
            <a:spAutoFit/>
          </a:bodyPr>
          <a:lstStyle/>
          <a:p>
            <a:pPr algn="ctr">
              <a:lnSpc>
                <a:spcPts val="16700"/>
              </a:lnSpc>
            </a:pPr>
            <a:r>
              <a:rPr lang="en-US" b="true" sz="11929">
                <a:solidFill>
                  <a:srgbClr val="005FC2"/>
                </a:solidFill>
                <a:latin typeface="Canva Sans Bold"/>
                <a:ea typeface="Canva Sans Bold"/>
                <a:cs typeface="Canva Sans Bold"/>
                <a:sym typeface="Canva Sans Bold"/>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DAHVOi0a-p8</dc:identifier>
  <dcterms:modified xsi:type="dcterms:W3CDTF">2011-08-01T06:04:30Z</dcterms:modified>
  <cp:revision>1</cp:revision>
  <dc:title>PSPJ-Section-15-Group-3</dc:title>
</cp:coreProperties>
</file>